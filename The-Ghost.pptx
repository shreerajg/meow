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6" r:id="rId2"/>
    <p:sldId id="268" r:id="rId3"/>
    <p:sldId id="258" r:id="rId4"/>
    <p:sldId id="259" r:id="rId5"/>
    <p:sldId id="260" r:id="rId6"/>
    <p:sldId id="265" r:id="rId7"/>
    <p:sldId id="264" r:id="rId8"/>
    <p:sldId id="263" r:id="rId9"/>
    <p:sldId id="262" r:id="rId10"/>
    <p:sldId id="261" r:id="rId11"/>
    <p:sldId id="267" r:id="rId12"/>
  </p:sldIdLst>
  <p:sldSz cx="9144000" cy="5143500" type="screen16x9"/>
  <p:notesSz cx="5143500" cy="9144000"/>
  <p:embeddedFontLst>
    <p:embeddedFont>
      <p:font typeface="Noto Sans TC" panose="020B0604020202020204" charset="-128"/>
      <p:regular r:id="rId14"/>
    </p:embeddedFont>
    <p:embeddedFont>
      <p:font typeface="Arial Narrow" panose="020B0606020202030204" pitchFamily="34" charset="0"/>
      <p:regular r:id="rId15"/>
      <p:bold r:id="rId16"/>
      <p:italic r:id="rId17"/>
      <p:boldItalic r:id="rId18"/>
    </p:embeddedFont>
    <p:embeddedFont>
      <p:font typeface="Georgia" panose="02040502050405020303" pitchFamily="18" charset="0"/>
      <p:regular r:id="rId19"/>
      <p:bold r:id="rId20"/>
      <p:italic r:id="rId21"/>
      <p:boldItalic r:id="rId22"/>
    </p:embeddedFont>
    <p:embeddedFont>
      <p:font typeface="Inter" panose="020B0604020202020204" charset="0"/>
      <p:regular r:id="rId23"/>
    </p:embeddedFont>
    <p:embeddedFont>
      <p:font typeface="Showcard Gothic" panose="04020904020102020604" pitchFamily="82" charset="0"/>
      <p:regular r:id="rId24"/>
    </p:embeddedFont>
    <p:embeddedFont>
      <p:font typeface="Sora Medium" panose="020B0604020202020204" charset="0"/>
      <p:regular r:id="rId25"/>
    </p:embeddedFont>
    <p:embeddedFont>
      <p:font typeface="Source Sans 3" panose="020B0604020202020204" charset="0"/>
      <p:regular r:id="rId26"/>
    </p:embeddedFont>
    <p:embeddedFont>
      <p:font typeface="Unispace" panose="02000809060000020004" pitchFamily="49" charset="0"/>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132"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307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system architecture.
At the top-left, we have the Admin Dashboard — this is what the teacher sees. It is a JavaFX application that opens a TCP server socket to accept incoming connections from student PCs. It displays a live thumbnail grid, handles file distribution, runs the command console, and persists all data in a local SQLite database on the admin machine.
On the right, we have the Student Agents — a Java client running on each lab PC. When a student logs in or connects, the agent captures the screen using java.awt.Robot, compresses it, and streams it over TCP to the Admin. The agent also receives commands and files from the server, and can execute Python ghost-task scripts for safe local operations like logging and file handling.
In the middle, the LAN Communication Layer connects everything. TCP sockets carry reliable streams for screen data, commands, and file transfer. UDP broadcasts allow the admin to discover which student PCs are online, without any manual IP entry.
Importantly, the SQLite database lives entirely on the admin machine. There is no external server, no cloud, no internet.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128250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83778" y="2208460"/>
            <a:ext cx="5097847" cy="465163"/>
          </a:xfrm>
          <a:prstGeom prst="rect">
            <a:avLst/>
          </a:prstGeom>
          <a:noFill/>
          <a:ln/>
        </p:spPr>
        <p:txBody>
          <a:bodyPr wrap="none" lIns="0" tIns="0" rIns="0" bIns="0" rtlCol="0" anchor="t"/>
          <a:lstStyle/>
          <a:p>
            <a:pPr>
              <a:lnSpc>
                <a:spcPts val="3656"/>
              </a:lnSpc>
            </a:pPr>
            <a:r>
              <a:rPr lang="en-US" sz="4500" b="1" dirty="0">
                <a:solidFill>
                  <a:srgbClr val="FF8AAF"/>
                </a:solidFill>
                <a:latin typeface="Georgia" panose="02040502050405020303" pitchFamily="18" charset="0"/>
                <a:ea typeface="Petrona Bold" pitchFamily="34" charset="-122"/>
                <a:cs typeface="Petrona Bold" pitchFamily="34" charset="-120"/>
              </a:rPr>
              <a:t>The Ghost Of Lab</a:t>
            </a:r>
            <a:endParaRPr lang="en-US" sz="4500" dirty="0"/>
          </a:p>
        </p:txBody>
      </p:sp>
      <p:sp>
        <p:nvSpPr>
          <p:cNvPr id="4" name="Text 1"/>
          <p:cNvSpPr/>
          <p:nvPr/>
        </p:nvSpPr>
        <p:spPr>
          <a:xfrm>
            <a:off x="496119" y="2838599"/>
            <a:ext cx="4722763" cy="453628"/>
          </a:xfrm>
          <a:prstGeom prst="rect">
            <a:avLst/>
          </a:prstGeom>
          <a:noFill/>
          <a:ln/>
        </p:spPr>
        <p:txBody>
          <a:bodyPr wrap="square" lIns="0" tIns="0" rIns="0" bIns="0" rtlCol="0" anchor="t"/>
          <a:lstStyle/>
          <a:p>
            <a:pPr>
              <a:lnSpc>
                <a:spcPts val="1781"/>
              </a:lnSpc>
            </a:pPr>
            <a:r>
              <a:rPr lang="en-US" sz="1094" dirty="0">
                <a:solidFill>
                  <a:srgbClr val="E0D6DE"/>
                </a:solidFill>
                <a:latin typeface="Inter" pitchFamily="34" charset="0"/>
                <a:ea typeface="Inter" pitchFamily="34" charset="-122"/>
                <a:cs typeface="Inter" pitchFamily="34" charset="-120"/>
              </a:rPr>
              <a:t>A modular hybrid suite for LAN-based classroom management and monitoring</a:t>
            </a:r>
            <a:endParaRPr lang="en-US" sz="1094" dirty="0"/>
          </a:p>
        </p:txBody>
      </p:sp>
      <p:sp>
        <p:nvSpPr>
          <p:cNvPr id="5" name="Text 2">
            <a:extLst>
              <a:ext uri="{FF2B5EF4-FFF2-40B4-BE49-F238E27FC236}">
                <a16:creationId xmlns:a16="http://schemas.microsoft.com/office/drawing/2014/main" id="{CCA9BE3F-F507-1D9C-DF7C-3098978385F5}"/>
              </a:ext>
            </a:extLst>
          </p:cNvPr>
          <p:cNvSpPr/>
          <p:nvPr/>
        </p:nvSpPr>
        <p:spPr>
          <a:xfrm>
            <a:off x="799095" y="1073281"/>
            <a:ext cx="4667846" cy="239390"/>
          </a:xfrm>
          <a:prstGeom prst="rect">
            <a:avLst/>
          </a:prstGeom>
          <a:noFill/>
        </p:spPr>
        <p:txBody>
          <a:bodyPr wrap="none" lIns="0" tIns="0" rIns="0" bIns="0" rtlCol="0" anchor="t"/>
          <a:lstStyle/>
          <a:p>
            <a:pPr algn="ctr">
              <a:lnSpc>
                <a:spcPts val="1875"/>
              </a:lnSpc>
            </a:pPr>
            <a:r>
              <a:rPr lang="en-US" sz="1156" b="1" dirty="0">
                <a:solidFill>
                  <a:srgbClr val="D6E5EF"/>
                </a:solidFill>
                <a:latin typeface="Unispace" panose="02000809060000020004" pitchFamily="49" charset="0"/>
                <a:ea typeface="Source Sans 3" pitchFamily="34" charset="-122"/>
                <a:cs typeface="Source Sans 3" pitchFamily="34" charset="-120"/>
              </a:rPr>
              <a:t>Department of Computer Science &amp; Engineering (AIML)</a:t>
            </a:r>
            <a:endParaRPr lang="en-US" sz="1156" dirty="0">
              <a:latin typeface="Unispace" panose="02000809060000020004" pitchFamily="49" charset="0"/>
            </a:endParaRPr>
          </a:p>
        </p:txBody>
      </p:sp>
      <p:sp>
        <p:nvSpPr>
          <p:cNvPr id="6" name="Text 3">
            <a:extLst>
              <a:ext uri="{FF2B5EF4-FFF2-40B4-BE49-F238E27FC236}">
                <a16:creationId xmlns:a16="http://schemas.microsoft.com/office/drawing/2014/main" id="{FEBE2A1C-375E-7BDC-0226-EBC1152F5B13}"/>
              </a:ext>
            </a:extLst>
          </p:cNvPr>
          <p:cNvSpPr/>
          <p:nvPr/>
        </p:nvSpPr>
        <p:spPr>
          <a:xfrm>
            <a:off x="763376" y="738788"/>
            <a:ext cx="4667846" cy="239390"/>
          </a:xfrm>
          <a:prstGeom prst="rect">
            <a:avLst/>
          </a:prstGeom>
          <a:noFill/>
        </p:spPr>
        <p:txBody>
          <a:bodyPr wrap="none" lIns="0" tIns="0" rIns="0" bIns="0" rtlCol="0" anchor="t"/>
          <a:lstStyle/>
          <a:p>
            <a:pPr algn="ctr">
              <a:lnSpc>
                <a:spcPts val="1875"/>
              </a:lnSpc>
            </a:pPr>
            <a:r>
              <a:rPr lang="en-US" sz="1375" dirty="0">
                <a:solidFill>
                  <a:srgbClr val="D6E5EF"/>
                </a:solidFill>
                <a:latin typeface="Showcard Gothic" panose="04020904020102020604" pitchFamily="82" charset="0"/>
                <a:ea typeface="Source Sans 3" pitchFamily="34" charset="-122"/>
                <a:cs typeface="Source Sans 3" pitchFamily="34" charset="-120"/>
              </a:rPr>
              <a:t>Kolhapur Institute of  Technology, Kolhapur</a:t>
            </a:r>
            <a:endParaRPr lang="en-US" sz="1375" dirty="0">
              <a:latin typeface="Showcard Gothic" panose="04020904020102020604" pitchFamily="82" charset="0"/>
            </a:endParaRPr>
          </a:p>
        </p:txBody>
      </p:sp>
      <p:sp>
        <p:nvSpPr>
          <p:cNvPr id="8" name="Rectangle 7">
            <a:extLst>
              <a:ext uri="{FF2B5EF4-FFF2-40B4-BE49-F238E27FC236}">
                <a16:creationId xmlns:a16="http://schemas.microsoft.com/office/drawing/2014/main" id="{F725E080-EECD-DABF-4B6E-BC992BF42A00}"/>
              </a:ext>
            </a:extLst>
          </p:cNvPr>
          <p:cNvSpPr/>
          <p:nvPr/>
        </p:nvSpPr>
        <p:spPr>
          <a:xfrm>
            <a:off x="0" y="0"/>
            <a:ext cx="1990922" cy="652389"/>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pic>
        <p:nvPicPr>
          <p:cNvPr id="7" name="Picture 6">
            <a:extLst>
              <a:ext uri="{FF2B5EF4-FFF2-40B4-BE49-F238E27FC236}">
                <a16:creationId xmlns:a16="http://schemas.microsoft.com/office/drawing/2014/main" id="{86C50D29-00B1-9CC3-603C-F268FE794824}"/>
              </a:ext>
            </a:extLst>
          </p:cNvPr>
          <p:cNvPicPr>
            <a:picLocks noChangeAspect="1"/>
          </p:cNvPicPr>
          <p:nvPr/>
        </p:nvPicPr>
        <p:blipFill>
          <a:blip r:embed="rId3"/>
          <a:stretch>
            <a:fillRect/>
          </a:stretch>
        </p:blipFill>
        <p:spPr>
          <a:xfrm>
            <a:off x="0" y="37807"/>
            <a:ext cx="1990922" cy="588466"/>
          </a:xfrm>
          <a:prstGeom prst="rect">
            <a:avLst/>
          </a:prstGeom>
        </p:spPr>
      </p:pic>
      <p:sp>
        <p:nvSpPr>
          <p:cNvPr id="9" name="Text 1">
            <a:extLst>
              <a:ext uri="{FF2B5EF4-FFF2-40B4-BE49-F238E27FC236}">
                <a16:creationId xmlns:a16="http://schemas.microsoft.com/office/drawing/2014/main" id="{8D0045B1-9B40-017F-0A48-DBE6965C474D}"/>
              </a:ext>
            </a:extLst>
          </p:cNvPr>
          <p:cNvSpPr/>
          <p:nvPr/>
        </p:nvSpPr>
        <p:spPr>
          <a:xfrm>
            <a:off x="0" y="3569413"/>
            <a:ext cx="4667846" cy="239390"/>
          </a:xfrm>
          <a:prstGeom prst="rect">
            <a:avLst/>
          </a:prstGeom>
          <a:noFill/>
        </p:spPr>
        <p:txBody>
          <a:bodyPr wrap="none" lIns="0" tIns="0" rIns="0" bIns="0" rtlCol="0" anchor="t"/>
          <a:lstStyle/>
          <a:p>
            <a:pPr algn="ctr">
              <a:lnSpc>
                <a:spcPts val="1875"/>
              </a:lnSpc>
            </a:pPr>
            <a:r>
              <a:rPr lang="en-US" sz="1156" b="1" dirty="0">
                <a:solidFill>
                  <a:srgbClr val="D6E5EF"/>
                </a:solidFill>
                <a:latin typeface="Source Sans 3" pitchFamily="34" charset="0"/>
                <a:ea typeface="Source Sans 3" pitchFamily="34" charset="-122"/>
                <a:cs typeface="Source Sans 3" pitchFamily="34" charset="-120"/>
              </a:rPr>
              <a:t>     Team : </a:t>
            </a:r>
            <a:r>
              <a:rPr lang="en-US" sz="1156" dirty="0">
                <a:solidFill>
                  <a:srgbClr val="D6E5EF"/>
                </a:solidFill>
                <a:latin typeface="Source Sans 3" pitchFamily="34" charset="0"/>
                <a:ea typeface="Source Sans 3" pitchFamily="34" charset="-122"/>
                <a:cs typeface="Source Sans 3" pitchFamily="34" charset="-120"/>
              </a:rPr>
              <a:t>Shubham Patil  A48,</a:t>
            </a:r>
          </a:p>
          <a:p>
            <a:pPr algn="ctr">
              <a:lnSpc>
                <a:spcPts val="1875"/>
              </a:lnSpc>
            </a:pPr>
            <a:r>
              <a:rPr lang="en-US" sz="1156" dirty="0">
                <a:solidFill>
                  <a:srgbClr val="D6E5EF"/>
                </a:solidFill>
                <a:latin typeface="Source Sans 3" pitchFamily="34" charset="0"/>
                <a:ea typeface="Source Sans 3" pitchFamily="34" charset="-122"/>
                <a:cs typeface="Source Sans 3" pitchFamily="34" charset="-120"/>
              </a:rPr>
              <a:t>                     Shreeraj Gudade A73,</a:t>
            </a:r>
          </a:p>
          <a:p>
            <a:pPr algn="ctr">
              <a:lnSpc>
                <a:spcPts val="1875"/>
              </a:lnSpc>
            </a:pPr>
            <a:r>
              <a:rPr lang="en-US" sz="1156" dirty="0">
                <a:solidFill>
                  <a:srgbClr val="D6E5EF"/>
                </a:solidFill>
                <a:latin typeface="Source Sans 3" pitchFamily="34" charset="0"/>
                <a:ea typeface="Source Sans 3" pitchFamily="34" charset="-122"/>
                <a:cs typeface="Source Sans 3" pitchFamily="34" charset="-120"/>
              </a:rPr>
              <a:t>            Anjali Wale A74,</a:t>
            </a:r>
          </a:p>
          <a:p>
            <a:pPr algn="ctr">
              <a:lnSpc>
                <a:spcPts val="1875"/>
              </a:lnSpc>
            </a:pPr>
            <a:r>
              <a:rPr lang="en-US" sz="1156" dirty="0">
                <a:solidFill>
                  <a:srgbClr val="D6E5EF"/>
                </a:solidFill>
                <a:latin typeface="Source Sans 3" pitchFamily="34" charset="0"/>
                <a:ea typeface="Source Sans 3" pitchFamily="34" charset="-122"/>
                <a:cs typeface="Source Sans 3" pitchFamily="34" charset="-120"/>
              </a:rPr>
              <a:t>                Shreya Thorat A77</a:t>
            </a:r>
            <a:endParaRPr lang="en-US" sz="1156" dirty="0"/>
          </a:p>
        </p:txBody>
      </p:sp>
      <p:sp>
        <p:nvSpPr>
          <p:cNvPr id="11" name="TextBox 10">
            <a:extLst>
              <a:ext uri="{FF2B5EF4-FFF2-40B4-BE49-F238E27FC236}">
                <a16:creationId xmlns:a16="http://schemas.microsoft.com/office/drawing/2014/main" id="{B96E3109-582A-745C-42D1-F9F8B8A4C900}"/>
              </a:ext>
            </a:extLst>
          </p:cNvPr>
          <p:cNvSpPr txBox="1"/>
          <p:nvPr/>
        </p:nvSpPr>
        <p:spPr>
          <a:xfrm>
            <a:off x="4054079" y="4255811"/>
            <a:ext cx="1797843" cy="611706"/>
          </a:xfrm>
          <a:prstGeom prst="rect">
            <a:avLst/>
          </a:prstGeom>
          <a:noFill/>
        </p:spPr>
        <p:txBody>
          <a:bodyPr wrap="square" rtlCol="0">
            <a:spAutoFit/>
          </a:bodyPr>
          <a:lstStyle/>
          <a:p>
            <a:r>
              <a:rPr lang="en-US" sz="1125" dirty="0">
                <a:solidFill>
                  <a:schemeClr val="bg1"/>
                </a:solidFill>
                <a:latin typeface="Arial Narrow" panose="020B0606020202030204" pitchFamily="34" charset="0"/>
              </a:rPr>
              <a:t>UNDER GUIDANCE OF:</a:t>
            </a:r>
          </a:p>
          <a:p>
            <a:endParaRPr lang="en-US" sz="1125" dirty="0">
              <a:solidFill>
                <a:schemeClr val="bg1"/>
              </a:solidFill>
              <a:latin typeface="Arial Narrow" panose="020B0606020202030204" pitchFamily="34" charset="0"/>
            </a:endParaRPr>
          </a:p>
          <a:p>
            <a:r>
              <a:rPr lang="en-US" sz="1125" i="1" dirty="0">
                <a:solidFill>
                  <a:schemeClr val="bg1"/>
                </a:solidFill>
                <a:latin typeface="Arial Narrow" panose="020B0606020202030204" pitchFamily="34" charset="0"/>
              </a:rPr>
              <a:t>Mrs. </a:t>
            </a:r>
            <a:r>
              <a:rPr lang="en-US" sz="1125" i="1">
                <a:solidFill>
                  <a:schemeClr val="bg1"/>
                </a:solidFill>
                <a:latin typeface="Arial Narrow" panose="020B0606020202030204" pitchFamily="34" charset="0"/>
              </a:rPr>
              <a:t>Sapna Buwa</a:t>
            </a:r>
            <a:r>
              <a:rPr lang="en-US" sz="1125" i="1" dirty="0">
                <a:solidFill>
                  <a:schemeClr val="bg1"/>
                </a:solidFill>
                <a:latin typeface="Arial Narrow" panose="020B0606020202030204" pitchFamily="34" charset="0"/>
              </a:rPr>
              <a:t>. </a:t>
            </a:r>
          </a:p>
        </p:txBody>
      </p:sp>
      <p:sp>
        <p:nvSpPr>
          <p:cNvPr id="13" name="Text 4">
            <a:extLst>
              <a:ext uri="{FF2B5EF4-FFF2-40B4-BE49-F238E27FC236}">
                <a16:creationId xmlns:a16="http://schemas.microsoft.com/office/drawing/2014/main" id="{039C70B5-D4BB-13D9-7466-4F774B010249}"/>
              </a:ext>
            </a:extLst>
          </p:cNvPr>
          <p:cNvSpPr/>
          <p:nvPr/>
        </p:nvSpPr>
        <p:spPr>
          <a:xfrm>
            <a:off x="-94658" y="4737721"/>
            <a:ext cx="2180238" cy="239390"/>
          </a:xfrm>
          <a:prstGeom prst="rect">
            <a:avLst/>
          </a:prstGeom>
          <a:noFill/>
        </p:spPr>
        <p:txBody>
          <a:bodyPr wrap="none" lIns="0" tIns="0" rIns="0" bIns="0" rtlCol="0" anchor="t"/>
          <a:lstStyle/>
          <a:p>
            <a:pPr algn="ctr">
              <a:lnSpc>
                <a:spcPts val="1875"/>
              </a:lnSpc>
            </a:pPr>
            <a:r>
              <a:rPr lang="en-US" sz="1156" b="1" dirty="0">
                <a:solidFill>
                  <a:srgbClr val="D6E5EF"/>
                </a:solidFill>
                <a:latin typeface="Source Sans 3" pitchFamily="34" charset="0"/>
                <a:ea typeface="Source Sans 3" pitchFamily="34" charset="-122"/>
                <a:cs typeface="Source Sans 3" pitchFamily="34" charset="-120"/>
              </a:rPr>
              <a:t>Date:</a:t>
            </a:r>
            <a:r>
              <a:rPr lang="en-US" sz="1156" dirty="0">
                <a:solidFill>
                  <a:srgbClr val="D6E5EF"/>
                </a:solidFill>
                <a:latin typeface="Source Sans 3" pitchFamily="34" charset="0"/>
                <a:ea typeface="Source Sans 3" pitchFamily="34" charset="-122"/>
                <a:cs typeface="Source Sans 3" pitchFamily="34" charset="-120"/>
              </a:rPr>
              <a:t> 19</a:t>
            </a:r>
            <a:r>
              <a:rPr lang="en-US" sz="1156" baseline="30000" dirty="0">
                <a:solidFill>
                  <a:srgbClr val="D6E5EF"/>
                </a:solidFill>
                <a:latin typeface="Source Sans 3" pitchFamily="34" charset="0"/>
                <a:ea typeface="Source Sans 3" pitchFamily="34" charset="-122"/>
                <a:cs typeface="Source Sans 3" pitchFamily="34" charset="-120"/>
              </a:rPr>
              <a:t>th</a:t>
            </a:r>
            <a:r>
              <a:rPr lang="en-US" sz="1156" dirty="0">
                <a:solidFill>
                  <a:srgbClr val="D6E5EF"/>
                </a:solidFill>
                <a:latin typeface="Source Sans 3" pitchFamily="34" charset="0"/>
                <a:ea typeface="Source Sans 3" pitchFamily="34" charset="-122"/>
                <a:cs typeface="Source Sans 3" pitchFamily="34" charset="-120"/>
              </a:rPr>
              <a:t> May 2026</a:t>
            </a:r>
            <a:endParaRPr lang="en-US" sz="1156" dirty="0"/>
          </a:p>
        </p:txBody>
      </p:sp>
      <p:pic>
        <p:nvPicPr>
          <p:cNvPr id="10" name="Image 0" descr="preencoded.png">
            <a:extLst>
              <a:ext uri="{FF2B5EF4-FFF2-40B4-BE49-F238E27FC236}">
                <a16:creationId xmlns:a16="http://schemas.microsoft.com/office/drawing/2014/main" id="{726C88D2-9EFC-5FC2-E08E-DB5136CF34D1}"/>
              </a:ext>
            </a:extLst>
          </p:cNvPr>
          <p:cNvPicPr>
            <a:picLocks noChangeAspect="1"/>
          </p:cNvPicPr>
          <p:nvPr/>
        </p:nvPicPr>
        <p:blipFill>
          <a:blip r:embed="rId4"/>
          <a:stretch>
            <a:fillRect/>
          </a:stretch>
        </p:blipFill>
        <p:spPr>
          <a:xfrm>
            <a:off x="5720940" y="0"/>
            <a:ext cx="3429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97362" y="410840"/>
            <a:ext cx="4778276" cy="878235"/>
          </a:xfrm>
          <a:prstGeom prst="rect">
            <a:avLst/>
          </a:prstGeom>
          <a:noFill/>
          <a:ln/>
        </p:spPr>
        <p:txBody>
          <a:bodyPr wrap="square" lIns="0" tIns="0" rIns="0" bIns="0" rtlCol="0" anchor="t"/>
          <a:lstStyle/>
          <a:p>
            <a:pPr>
              <a:lnSpc>
                <a:spcPts val="3438"/>
              </a:lnSpc>
            </a:pPr>
            <a:r>
              <a:rPr lang="en-US" sz="2750" b="1" dirty="0">
                <a:solidFill>
                  <a:srgbClr val="FF8AAF"/>
                </a:solidFill>
                <a:latin typeface="Georgia" panose="02040502050405020303" pitchFamily="18" charset="0"/>
                <a:ea typeface="Petrona Bold" pitchFamily="34" charset="-122"/>
                <a:cs typeface="Petrona Bold" pitchFamily="34" charset="-120"/>
              </a:rPr>
              <a:t>Introduction &amp; Problem Statement</a:t>
            </a:r>
            <a:endParaRPr lang="en-US" sz="2750" dirty="0"/>
          </a:p>
        </p:txBody>
      </p:sp>
      <p:sp>
        <p:nvSpPr>
          <p:cNvPr id="4" name="Shape 1"/>
          <p:cNvSpPr/>
          <p:nvPr/>
        </p:nvSpPr>
        <p:spPr>
          <a:xfrm>
            <a:off x="3897362" y="1478534"/>
            <a:ext cx="4778276" cy="988739"/>
          </a:xfrm>
          <a:prstGeom prst="roundRect">
            <a:avLst>
              <a:gd name="adj" fmla="val 5685"/>
            </a:avLst>
          </a:prstGeom>
          <a:solidFill>
            <a:srgbClr val="2F1D63"/>
          </a:solidFill>
          <a:ln w="7620">
            <a:solidFill>
              <a:srgbClr val="48367C"/>
            </a:solidFill>
            <a:prstDash val="solid"/>
          </a:ln>
        </p:spPr>
      </p:sp>
      <p:sp>
        <p:nvSpPr>
          <p:cNvPr id="5" name="Text 2"/>
          <p:cNvSpPr/>
          <p:nvPr/>
        </p:nvSpPr>
        <p:spPr>
          <a:xfrm>
            <a:off x="4035921" y="1617092"/>
            <a:ext cx="1756544" cy="219596"/>
          </a:xfrm>
          <a:prstGeom prst="rect">
            <a:avLst/>
          </a:prstGeom>
          <a:noFill/>
          <a:ln/>
        </p:spPr>
        <p:txBody>
          <a:bodyPr wrap="none" lIns="0" tIns="0" rIns="0" bIns="0" rtlCol="0" anchor="t"/>
          <a:lstStyle/>
          <a:p>
            <a:pPr>
              <a:lnSpc>
                <a:spcPts val="1719"/>
              </a:lnSpc>
            </a:pPr>
            <a:r>
              <a:rPr lang="en-US" sz="1375" b="1" dirty="0">
                <a:solidFill>
                  <a:srgbClr val="E0D6DE"/>
                </a:solidFill>
                <a:latin typeface="Georgia" panose="02040502050405020303" pitchFamily="18" charset="0"/>
                <a:ea typeface="Petrona Bold" pitchFamily="34" charset="-122"/>
                <a:cs typeface="Petrona Bold" pitchFamily="34" charset="-120"/>
              </a:rPr>
              <a:t>The Vision</a:t>
            </a:r>
            <a:endParaRPr lang="en-US" sz="1375" dirty="0"/>
          </a:p>
        </p:txBody>
      </p:sp>
      <p:sp>
        <p:nvSpPr>
          <p:cNvPr id="6" name="Text 3"/>
          <p:cNvSpPr/>
          <p:nvPr/>
        </p:nvSpPr>
        <p:spPr>
          <a:xfrm>
            <a:off x="4035922" y="1912441"/>
            <a:ext cx="4501158" cy="416273"/>
          </a:xfrm>
          <a:prstGeom prst="rect">
            <a:avLst/>
          </a:prstGeom>
          <a:noFill/>
          <a:ln/>
        </p:spPr>
        <p:txBody>
          <a:bodyPr wrap="square" lIns="0" tIns="0" rIns="0" bIns="0" rtlCol="0" anchor="t"/>
          <a:lstStyle/>
          <a:p>
            <a:pPr>
              <a:lnSpc>
                <a:spcPts val="1625"/>
              </a:lnSpc>
            </a:pPr>
            <a:r>
              <a:rPr lang="en-US" sz="1031" dirty="0">
                <a:solidFill>
                  <a:srgbClr val="E0D6DE"/>
                </a:solidFill>
                <a:latin typeface="Inter" pitchFamily="34" charset="0"/>
                <a:ea typeface="Inter" pitchFamily="34" charset="-122"/>
                <a:cs typeface="Inter" pitchFamily="34" charset="-120"/>
              </a:rPr>
              <a:t>Dual-state application providing instant instructor control and broadcasting over LAN without external internet</a:t>
            </a:r>
            <a:endParaRPr lang="en-US" sz="1031" dirty="0"/>
          </a:p>
        </p:txBody>
      </p:sp>
      <p:sp>
        <p:nvSpPr>
          <p:cNvPr id="7" name="Shape 4"/>
          <p:cNvSpPr/>
          <p:nvPr/>
        </p:nvSpPr>
        <p:spPr>
          <a:xfrm>
            <a:off x="3897362" y="2593553"/>
            <a:ext cx="4778276" cy="1285280"/>
          </a:xfrm>
          <a:prstGeom prst="roundRect">
            <a:avLst>
              <a:gd name="adj" fmla="val 4373"/>
            </a:avLst>
          </a:prstGeom>
          <a:solidFill>
            <a:srgbClr val="2F1D63"/>
          </a:solidFill>
          <a:ln w="7620">
            <a:solidFill>
              <a:srgbClr val="48367C"/>
            </a:solidFill>
            <a:prstDash val="solid"/>
          </a:ln>
        </p:spPr>
      </p:sp>
      <p:sp>
        <p:nvSpPr>
          <p:cNvPr id="8" name="Text 5"/>
          <p:cNvSpPr/>
          <p:nvPr/>
        </p:nvSpPr>
        <p:spPr>
          <a:xfrm>
            <a:off x="4035921" y="2732113"/>
            <a:ext cx="1756544" cy="219596"/>
          </a:xfrm>
          <a:prstGeom prst="rect">
            <a:avLst/>
          </a:prstGeom>
          <a:noFill/>
          <a:ln/>
        </p:spPr>
        <p:txBody>
          <a:bodyPr wrap="none" lIns="0" tIns="0" rIns="0" bIns="0" rtlCol="0" anchor="t"/>
          <a:lstStyle/>
          <a:p>
            <a:pPr>
              <a:lnSpc>
                <a:spcPts val="1719"/>
              </a:lnSpc>
            </a:pPr>
            <a:r>
              <a:rPr lang="en-US" sz="1375" b="1" dirty="0">
                <a:solidFill>
                  <a:srgbClr val="E0D6DE"/>
                </a:solidFill>
                <a:latin typeface="Georgia" panose="02040502050405020303" pitchFamily="18" charset="0"/>
                <a:ea typeface="Petrona Bold" pitchFamily="34" charset="-122"/>
                <a:cs typeface="Petrona Bold" pitchFamily="34" charset="-120"/>
              </a:rPr>
              <a:t>Current Challenges</a:t>
            </a:r>
            <a:endParaRPr lang="en-US" sz="1375" dirty="0"/>
          </a:p>
        </p:txBody>
      </p:sp>
      <p:sp>
        <p:nvSpPr>
          <p:cNvPr id="9" name="Text 6"/>
          <p:cNvSpPr/>
          <p:nvPr/>
        </p:nvSpPr>
        <p:spPr>
          <a:xfrm>
            <a:off x="4035922" y="3027462"/>
            <a:ext cx="4501158" cy="712813"/>
          </a:xfrm>
          <a:prstGeom prst="rect">
            <a:avLst/>
          </a:prstGeom>
          <a:noFill/>
          <a:ln/>
        </p:spPr>
        <p:txBody>
          <a:bodyPr wrap="square" lIns="0" tIns="0" rIns="0" bIns="0" rtlCol="0" anchor="t"/>
          <a:lstStyle/>
          <a:p>
            <a:pPr marL="214313" indent="-214313">
              <a:lnSpc>
                <a:spcPts val="1625"/>
              </a:lnSpc>
              <a:buSzPct val="100000"/>
              <a:buChar char="•"/>
            </a:pPr>
            <a:r>
              <a:rPr lang="en-US" sz="1031" dirty="0">
                <a:solidFill>
                  <a:srgbClr val="E0D6DE"/>
                </a:solidFill>
                <a:latin typeface="Inter" pitchFamily="34" charset="0"/>
                <a:ea typeface="Inter" pitchFamily="34" charset="-122"/>
                <a:cs typeface="Inter" pitchFamily="34" charset="-120"/>
              </a:rPr>
              <a:t>High latency in screen broadcasting</a:t>
            </a:r>
            <a:endParaRPr lang="en-US" sz="1031" dirty="0"/>
          </a:p>
          <a:p>
            <a:pPr marL="214313" indent="-214313">
              <a:lnSpc>
                <a:spcPts val="1625"/>
              </a:lnSpc>
              <a:buSzPct val="100000"/>
              <a:buChar char="•"/>
            </a:pPr>
            <a:r>
              <a:rPr lang="en-US" sz="1031" dirty="0">
                <a:solidFill>
                  <a:srgbClr val="E0D6DE"/>
                </a:solidFill>
                <a:latin typeface="Inter" pitchFamily="34" charset="0"/>
                <a:ea typeface="Inter" pitchFamily="34" charset="-122"/>
                <a:cs typeface="Inter" pitchFamily="34" charset="-120"/>
              </a:rPr>
              <a:t>Complex setup with Maven dependencies</a:t>
            </a:r>
            <a:endParaRPr lang="en-US" sz="1031" dirty="0"/>
          </a:p>
          <a:p>
            <a:pPr marL="214313" indent="-214313">
              <a:lnSpc>
                <a:spcPts val="1625"/>
              </a:lnSpc>
              <a:buSzPct val="100000"/>
              <a:buChar char="•"/>
            </a:pPr>
            <a:r>
              <a:rPr lang="en-US" sz="1031" dirty="0">
                <a:solidFill>
                  <a:srgbClr val="E0D6DE"/>
                </a:solidFill>
                <a:latin typeface="Inter" pitchFamily="34" charset="0"/>
                <a:ea typeface="Inter" pitchFamily="34" charset="-122"/>
                <a:cs typeface="Inter" pitchFamily="34" charset="-120"/>
              </a:rPr>
              <a:t>No silent OS-level command execution</a:t>
            </a:r>
            <a:endParaRPr lang="en-US" sz="1031" dirty="0"/>
          </a:p>
        </p:txBody>
      </p:sp>
      <p:pic>
        <p:nvPicPr>
          <p:cNvPr id="10" name="Image 1" descr="preencoded.png"/>
          <p:cNvPicPr>
            <a:picLocks noChangeAspect="1"/>
          </p:cNvPicPr>
          <p:nvPr/>
        </p:nvPicPr>
        <p:blipFill>
          <a:blip r:embed="rId3"/>
          <a:stretch>
            <a:fillRect/>
          </a:stretch>
        </p:blipFill>
        <p:spPr>
          <a:xfrm>
            <a:off x="3878312" y="4001914"/>
            <a:ext cx="38100" cy="749722"/>
          </a:xfrm>
          <a:prstGeom prst="rect">
            <a:avLst/>
          </a:prstGeom>
        </p:spPr>
      </p:pic>
      <p:sp>
        <p:nvSpPr>
          <p:cNvPr id="11" name="Text 7"/>
          <p:cNvSpPr/>
          <p:nvPr/>
        </p:nvSpPr>
        <p:spPr>
          <a:xfrm>
            <a:off x="4069259" y="4020964"/>
            <a:ext cx="1756544" cy="219596"/>
          </a:xfrm>
          <a:prstGeom prst="rect">
            <a:avLst/>
          </a:prstGeom>
          <a:noFill/>
          <a:ln/>
        </p:spPr>
        <p:txBody>
          <a:bodyPr wrap="none" lIns="0" tIns="0" rIns="0" bIns="0" rtlCol="0" anchor="t"/>
          <a:lstStyle/>
          <a:p>
            <a:pPr>
              <a:lnSpc>
                <a:spcPts val="1719"/>
              </a:lnSpc>
            </a:pPr>
            <a:r>
              <a:rPr lang="en-US" sz="1375" b="1" dirty="0">
                <a:solidFill>
                  <a:srgbClr val="E0D6DE"/>
                </a:solidFill>
                <a:latin typeface="Georgia" panose="02040502050405020303" pitchFamily="18" charset="0"/>
                <a:ea typeface="Petrona Bold" pitchFamily="34" charset="-122"/>
                <a:cs typeface="Petrona Bold" pitchFamily="34" charset="-120"/>
              </a:rPr>
              <a:t>Key Challenges</a:t>
            </a:r>
            <a:endParaRPr lang="en-US" sz="1375" dirty="0"/>
          </a:p>
        </p:txBody>
      </p:sp>
      <p:sp>
        <p:nvSpPr>
          <p:cNvPr id="12" name="Text 8"/>
          <p:cNvSpPr/>
          <p:nvPr/>
        </p:nvSpPr>
        <p:spPr>
          <a:xfrm>
            <a:off x="4069259" y="4316313"/>
            <a:ext cx="4606379" cy="416273"/>
          </a:xfrm>
          <a:prstGeom prst="rect">
            <a:avLst/>
          </a:prstGeom>
          <a:noFill/>
          <a:ln/>
        </p:spPr>
        <p:txBody>
          <a:bodyPr wrap="square" lIns="0" tIns="0" rIns="0" bIns="0" rtlCol="0" anchor="t"/>
          <a:lstStyle/>
          <a:p>
            <a:pPr>
              <a:lnSpc>
                <a:spcPts val="1625"/>
              </a:lnSpc>
            </a:pPr>
            <a:r>
              <a:rPr lang="en-US" sz="1031" dirty="0">
                <a:solidFill>
                  <a:srgbClr val="E0D6DE"/>
                </a:solidFill>
                <a:latin typeface="Inter" pitchFamily="34" charset="0"/>
                <a:ea typeface="Inter" pitchFamily="34" charset="-122"/>
                <a:cs typeface="Inter" pitchFamily="34" charset="-120"/>
              </a:rPr>
              <a:t>Maintaining low-latency screen broadcasting, preventing software bypass, managing persistent student data</a:t>
            </a:r>
            <a:endParaRPr lang="en-US" sz="1031" dirty="0"/>
          </a:p>
        </p:txBody>
      </p:sp>
      <p:sp>
        <p:nvSpPr>
          <p:cNvPr id="13" name="Rectangle 12">
            <a:extLst>
              <a:ext uri="{FF2B5EF4-FFF2-40B4-BE49-F238E27FC236}">
                <a16:creationId xmlns:a16="http://schemas.microsoft.com/office/drawing/2014/main" id="{0B918D34-A675-12C8-65BB-CE88E2D478CC}"/>
              </a:ext>
            </a:extLst>
          </p:cNvPr>
          <p:cNvSpPr/>
          <p:nvPr/>
        </p:nvSpPr>
        <p:spPr>
          <a:xfrm>
            <a:off x="8018860" y="4827985"/>
            <a:ext cx="1125141" cy="315516"/>
          </a:xfrm>
          <a:prstGeom prst="rect">
            <a:avLst/>
          </a:prstGeom>
          <a:solidFill>
            <a:srgbClr val="0C0626"/>
          </a:solidFill>
          <a:ln>
            <a:solidFill>
              <a:srgbClr val="0D0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pic>
        <p:nvPicPr>
          <p:cNvPr id="14" name="Image 0" descr="preencoded.png">
            <a:extLst>
              <a:ext uri="{FF2B5EF4-FFF2-40B4-BE49-F238E27FC236}">
                <a16:creationId xmlns:a16="http://schemas.microsoft.com/office/drawing/2014/main" id="{F959B5B8-ED48-0638-C0F0-89BCBCD81C1F}"/>
              </a:ext>
            </a:extLst>
          </p:cNvPr>
          <p:cNvPicPr>
            <a:picLocks noChangeAspect="1"/>
          </p:cNvPicPr>
          <p:nvPr/>
        </p:nvPicPr>
        <p:blipFill>
          <a:blip r:embed="rId4"/>
          <a:stretch>
            <a:fillRect/>
          </a:stretch>
        </p:blipFill>
        <p:spPr>
          <a:xfrm>
            <a:off x="0" y="0"/>
            <a:ext cx="3429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36302"/>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97B8FF"/>
                </a:solidFill>
                <a:latin typeface="Sora Medium" pitchFamily="34" charset="0"/>
                <a:ea typeface="Sora Medium" pitchFamily="34" charset="-122"/>
                <a:cs typeface="Sora Medium" pitchFamily="34" charset="-120"/>
              </a:rPr>
              <a:t>Core Objectives</a:t>
            </a:r>
            <a:endParaRPr lang="en-US" sz="2750" b="1" dirty="0"/>
          </a:p>
        </p:txBody>
      </p:sp>
      <p:sp>
        <p:nvSpPr>
          <p:cNvPr id="3" name="Shape 1"/>
          <p:cNvSpPr/>
          <p:nvPr/>
        </p:nvSpPr>
        <p:spPr>
          <a:xfrm>
            <a:off x="496119" y="1475408"/>
            <a:ext cx="2622724" cy="1502122"/>
          </a:xfrm>
          <a:prstGeom prst="roundRect">
            <a:avLst>
              <a:gd name="adj" fmla="val 6087"/>
            </a:avLst>
          </a:prstGeom>
          <a:solidFill>
            <a:srgbClr val="07070C"/>
          </a:solidFill>
          <a:ln w="19050">
            <a:solidFill>
              <a:srgbClr val="3F3F44"/>
            </a:solidFill>
            <a:prstDash val="solid"/>
          </a:ln>
        </p:spPr>
      </p:sp>
      <p:pic>
        <p:nvPicPr>
          <p:cNvPr id="4" name="Image 0" descr="preencoded.png"/>
          <p:cNvPicPr>
            <a:picLocks noChangeAspect="1"/>
          </p:cNvPicPr>
          <p:nvPr/>
        </p:nvPicPr>
        <p:blipFill>
          <a:blip r:embed="rId3"/>
          <a:stretch>
            <a:fillRect/>
          </a:stretch>
        </p:blipFill>
        <p:spPr>
          <a:xfrm>
            <a:off x="496119" y="1456358"/>
            <a:ext cx="2622724" cy="76200"/>
          </a:xfrm>
          <a:prstGeom prst="rect">
            <a:avLst/>
          </a:prstGeom>
        </p:spPr>
      </p:pic>
      <p:pic>
        <p:nvPicPr>
          <p:cNvPr id="5" name="Image 1" descr="preencoded.png"/>
          <p:cNvPicPr>
            <a:picLocks noChangeAspect="1"/>
          </p:cNvPicPr>
          <p:nvPr/>
        </p:nvPicPr>
        <p:blipFill>
          <a:blip r:embed="rId4"/>
          <a:stretch>
            <a:fillRect/>
          </a:stretch>
        </p:blipFill>
        <p:spPr>
          <a:xfrm>
            <a:off x="1594805" y="1262807"/>
            <a:ext cx="425276" cy="425276"/>
          </a:xfrm>
          <a:prstGeom prst="rect">
            <a:avLst/>
          </a:prstGeom>
        </p:spPr>
      </p:pic>
      <p:sp>
        <p:nvSpPr>
          <p:cNvPr id="6" name="Text 2"/>
          <p:cNvSpPr/>
          <p:nvPr/>
        </p:nvSpPr>
        <p:spPr>
          <a:xfrm>
            <a:off x="1493751" y="1369144"/>
            <a:ext cx="398711" cy="212601"/>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Sora Medium" pitchFamily="34" charset="0"/>
                <a:ea typeface="Sora Medium" pitchFamily="34" charset="-122"/>
                <a:cs typeface="Sora Medium" pitchFamily="34" charset="-120"/>
              </a:rPr>
              <a:t>1</a:t>
            </a:r>
            <a:endParaRPr lang="en-US" sz="1300" dirty="0"/>
          </a:p>
        </p:txBody>
      </p:sp>
      <p:sp>
        <p:nvSpPr>
          <p:cNvPr id="7" name="Text 3"/>
          <p:cNvSpPr/>
          <p:nvPr/>
        </p:nvSpPr>
        <p:spPr>
          <a:xfrm>
            <a:off x="656927" y="1829767"/>
            <a:ext cx="2306241"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Dual-State Launcher</a:t>
            </a:r>
            <a:endParaRPr lang="en-US" sz="1350" dirty="0"/>
          </a:p>
        </p:txBody>
      </p:sp>
      <p:sp>
        <p:nvSpPr>
          <p:cNvPr id="8" name="Text 4"/>
          <p:cNvSpPr/>
          <p:nvPr/>
        </p:nvSpPr>
        <p:spPr>
          <a:xfrm>
            <a:off x="656927" y="2136279"/>
            <a:ext cx="23011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Instant Admin/Student role assignment with modular architecture.</a:t>
            </a:r>
            <a:endParaRPr lang="en-US" sz="1100" dirty="0"/>
          </a:p>
        </p:txBody>
      </p:sp>
      <p:sp>
        <p:nvSpPr>
          <p:cNvPr id="9" name="Shape 5"/>
          <p:cNvSpPr/>
          <p:nvPr/>
        </p:nvSpPr>
        <p:spPr>
          <a:xfrm>
            <a:off x="3260601" y="1475408"/>
            <a:ext cx="2622724" cy="1502122"/>
          </a:xfrm>
          <a:prstGeom prst="roundRect">
            <a:avLst>
              <a:gd name="adj" fmla="val 6087"/>
            </a:avLst>
          </a:prstGeom>
          <a:solidFill>
            <a:srgbClr val="07070C"/>
          </a:solidFill>
          <a:ln w="19050">
            <a:solidFill>
              <a:srgbClr val="3F3F44"/>
            </a:solidFill>
            <a:prstDash val="solid"/>
          </a:ln>
        </p:spPr>
      </p:sp>
      <p:pic>
        <p:nvPicPr>
          <p:cNvPr id="10" name="Image 2" descr="preencoded.png"/>
          <p:cNvPicPr>
            <a:picLocks noChangeAspect="1"/>
          </p:cNvPicPr>
          <p:nvPr/>
        </p:nvPicPr>
        <p:blipFill>
          <a:blip r:embed="rId3"/>
          <a:stretch>
            <a:fillRect/>
          </a:stretch>
        </p:blipFill>
        <p:spPr>
          <a:xfrm>
            <a:off x="3260601" y="1456358"/>
            <a:ext cx="2622724" cy="76200"/>
          </a:xfrm>
          <a:prstGeom prst="rect">
            <a:avLst/>
          </a:prstGeom>
        </p:spPr>
      </p:pic>
      <p:pic>
        <p:nvPicPr>
          <p:cNvPr id="11" name="Image 3" descr="preencoded.png"/>
          <p:cNvPicPr>
            <a:picLocks noChangeAspect="1"/>
          </p:cNvPicPr>
          <p:nvPr/>
        </p:nvPicPr>
        <p:blipFill>
          <a:blip r:embed="rId4"/>
          <a:stretch>
            <a:fillRect/>
          </a:stretch>
        </p:blipFill>
        <p:spPr>
          <a:xfrm>
            <a:off x="4359287" y="1262807"/>
            <a:ext cx="425276" cy="425276"/>
          </a:xfrm>
          <a:prstGeom prst="rect">
            <a:avLst/>
          </a:prstGeom>
        </p:spPr>
      </p:pic>
      <p:sp>
        <p:nvSpPr>
          <p:cNvPr id="12" name="Text 6"/>
          <p:cNvSpPr/>
          <p:nvPr/>
        </p:nvSpPr>
        <p:spPr>
          <a:xfrm>
            <a:off x="4258233" y="1369144"/>
            <a:ext cx="398711" cy="212601"/>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Sora Medium" pitchFamily="34" charset="0"/>
                <a:ea typeface="Sora Medium" pitchFamily="34" charset="-122"/>
                <a:cs typeface="Sora Medium" pitchFamily="34" charset="-120"/>
              </a:rPr>
              <a:t>2</a:t>
            </a:r>
            <a:endParaRPr lang="en-US" sz="1300" dirty="0"/>
          </a:p>
        </p:txBody>
      </p:sp>
      <p:sp>
        <p:nvSpPr>
          <p:cNvPr id="13" name="Text 7"/>
          <p:cNvSpPr/>
          <p:nvPr/>
        </p:nvSpPr>
        <p:spPr>
          <a:xfrm>
            <a:off x="3421410" y="1829767"/>
            <a:ext cx="2543696"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Persistent User System</a:t>
            </a:r>
            <a:endParaRPr lang="en-US" sz="1350" dirty="0"/>
          </a:p>
        </p:txBody>
      </p:sp>
      <p:sp>
        <p:nvSpPr>
          <p:cNvPr id="14" name="Text 8"/>
          <p:cNvSpPr/>
          <p:nvPr/>
        </p:nvSpPr>
        <p:spPr>
          <a:xfrm>
            <a:off x="3421410" y="2136279"/>
            <a:ext cx="23011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Student registration and attendance tracking with local data persistence.</a:t>
            </a:r>
            <a:endParaRPr lang="en-US" sz="1100" dirty="0"/>
          </a:p>
        </p:txBody>
      </p:sp>
      <p:sp>
        <p:nvSpPr>
          <p:cNvPr id="15" name="Shape 9"/>
          <p:cNvSpPr/>
          <p:nvPr/>
        </p:nvSpPr>
        <p:spPr>
          <a:xfrm>
            <a:off x="6025083" y="1475408"/>
            <a:ext cx="2622724" cy="1502122"/>
          </a:xfrm>
          <a:prstGeom prst="roundRect">
            <a:avLst>
              <a:gd name="adj" fmla="val 6087"/>
            </a:avLst>
          </a:prstGeom>
          <a:solidFill>
            <a:srgbClr val="07070C"/>
          </a:solidFill>
          <a:ln w="19050">
            <a:solidFill>
              <a:srgbClr val="3F3F44"/>
            </a:solidFill>
            <a:prstDash val="solid"/>
          </a:ln>
        </p:spPr>
      </p:sp>
      <p:pic>
        <p:nvPicPr>
          <p:cNvPr id="16" name="Image 4" descr="preencoded.png"/>
          <p:cNvPicPr>
            <a:picLocks noChangeAspect="1"/>
          </p:cNvPicPr>
          <p:nvPr/>
        </p:nvPicPr>
        <p:blipFill>
          <a:blip r:embed="rId3"/>
          <a:stretch>
            <a:fillRect/>
          </a:stretch>
        </p:blipFill>
        <p:spPr>
          <a:xfrm>
            <a:off x="6025083" y="1456358"/>
            <a:ext cx="2622724" cy="76200"/>
          </a:xfrm>
          <a:prstGeom prst="rect">
            <a:avLst/>
          </a:prstGeom>
        </p:spPr>
      </p:pic>
      <p:pic>
        <p:nvPicPr>
          <p:cNvPr id="17" name="Image 5" descr="preencoded.png"/>
          <p:cNvPicPr>
            <a:picLocks noChangeAspect="1"/>
          </p:cNvPicPr>
          <p:nvPr/>
        </p:nvPicPr>
        <p:blipFill>
          <a:blip r:embed="rId4"/>
          <a:stretch>
            <a:fillRect/>
          </a:stretch>
        </p:blipFill>
        <p:spPr>
          <a:xfrm>
            <a:off x="7123770" y="1262807"/>
            <a:ext cx="425276" cy="425276"/>
          </a:xfrm>
          <a:prstGeom prst="rect">
            <a:avLst/>
          </a:prstGeom>
        </p:spPr>
      </p:pic>
      <p:sp>
        <p:nvSpPr>
          <p:cNvPr id="18" name="Text 10"/>
          <p:cNvSpPr/>
          <p:nvPr/>
        </p:nvSpPr>
        <p:spPr>
          <a:xfrm>
            <a:off x="7022716" y="1369144"/>
            <a:ext cx="398711" cy="212601"/>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Sora Medium" pitchFamily="34" charset="0"/>
                <a:ea typeface="Sora Medium" pitchFamily="34" charset="-122"/>
                <a:cs typeface="Sora Medium" pitchFamily="34" charset="-120"/>
              </a:rPr>
              <a:t>3</a:t>
            </a:r>
            <a:endParaRPr lang="en-US" sz="1300" dirty="0"/>
          </a:p>
        </p:txBody>
      </p:sp>
      <p:sp>
        <p:nvSpPr>
          <p:cNvPr id="19" name="Text 11"/>
          <p:cNvSpPr/>
          <p:nvPr/>
        </p:nvSpPr>
        <p:spPr>
          <a:xfrm>
            <a:off x="6185892" y="1829767"/>
            <a:ext cx="2615431"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Real-Time Broadcasting</a:t>
            </a:r>
            <a:endParaRPr lang="en-US" sz="1350" dirty="0"/>
          </a:p>
        </p:txBody>
      </p:sp>
      <p:sp>
        <p:nvSpPr>
          <p:cNvPr id="20" name="Text 12"/>
          <p:cNvSpPr/>
          <p:nvPr/>
        </p:nvSpPr>
        <p:spPr>
          <a:xfrm>
            <a:off x="6185892" y="2136279"/>
            <a:ext cx="2301106"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High frame-rate screen transmission over standard LAN.</a:t>
            </a:r>
            <a:endParaRPr lang="en-US" sz="1100" dirty="0"/>
          </a:p>
        </p:txBody>
      </p:sp>
      <p:sp>
        <p:nvSpPr>
          <p:cNvPr id="21" name="Shape 13"/>
          <p:cNvSpPr/>
          <p:nvPr/>
        </p:nvSpPr>
        <p:spPr>
          <a:xfrm>
            <a:off x="496119" y="3331890"/>
            <a:ext cx="4004965" cy="1275308"/>
          </a:xfrm>
          <a:prstGeom prst="roundRect">
            <a:avLst>
              <a:gd name="adj" fmla="val 7170"/>
            </a:avLst>
          </a:prstGeom>
          <a:solidFill>
            <a:srgbClr val="07070C"/>
          </a:solidFill>
          <a:ln w="19050">
            <a:solidFill>
              <a:srgbClr val="3F3F44"/>
            </a:solidFill>
            <a:prstDash val="solid"/>
          </a:ln>
        </p:spPr>
      </p:sp>
      <p:pic>
        <p:nvPicPr>
          <p:cNvPr id="22" name="Image 6" descr="preencoded.png"/>
          <p:cNvPicPr>
            <a:picLocks noChangeAspect="1"/>
          </p:cNvPicPr>
          <p:nvPr/>
        </p:nvPicPr>
        <p:blipFill>
          <a:blip r:embed="rId5"/>
          <a:stretch>
            <a:fillRect/>
          </a:stretch>
        </p:blipFill>
        <p:spPr>
          <a:xfrm>
            <a:off x="496119" y="3312840"/>
            <a:ext cx="4004965" cy="76200"/>
          </a:xfrm>
          <a:prstGeom prst="rect">
            <a:avLst/>
          </a:prstGeom>
        </p:spPr>
      </p:pic>
      <p:pic>
        <p:nvPicPr>
          <p:cNvPr id="23" name="Image 7" descr="preencoded.png"/>
          <p:cNvPicPr>
            <a:picLocks noChangeAspect="1"/>
          </p:cNvPicPr>
          <p:nvPr/>
        </p:nvPicPr>
        <p:blipFill>
          <a:blip r:embed="rId4"/>
          <a:stretch>
            <a:fillRect/>
          </a:stretch>
        </p:blipFill>
        <p:spPr>
          <a:xfrm>
            <a:off x="2285963" y="3119289"/>
            <a:ext cx="425276" cy="425276"/>
          </a:xfrm>
          <a:prstGeom prst="rect">
            <a:avLst/>
          </a:prstGeom>
        </p:spPr>
      </p:pic>
      <p:sp>
        <p:nvSpPr>
          <p:cNvPr id="24" name="Text 14"/>
          <p:cNvSpPr/>
          <p:nvPr/>
        </p:nvSpPr>
        <p:spPr>
          <a:xfrm>
            <a:off x="2184908" y="3225626"/>
            <a:ext cx="398711" cy="212601"/>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Sora Medium" pitchFamily="34" charset="0"/>
                <a:ea typeface="Sora Medium" pitchFamily="34" charset="-122"/>
                <a:cs typeface="Sora Medium" pitchFamily="34" charset="-120"/>
              </a:rPr>
              <a:t>4</a:t>
            </a:r>
            <a:endParaRPr lang="en-US" sz="1300" dirty="0"/>
          </a:p>
        </p:txBody>
      </p:sp>
      <p:sp>
        <p:nvSpPr>
          <p:cNvPr id="25" name="Text 15"/>
          <p:cNvSpPr/>
          <p:nvPr/>
        </p:nvSpPr>
        <p:spPr>
          <a:xfrm>
            <a:off x="656927" y="3686249"/>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High-Fidelity GUI</a:t>
            </a:r>
            <a:endParaRPr lang="en-US" sz="1350" dirty="0"/>
          </a:p>
        </p:txBody>
      </p:sp>
      <p:sp>
        <p:nvSpPr>
          <p:cNvPr id="26" name="Text 16"/>
          <p:cNvSpPr/>
          <p:nvPr/>
        </p:nvSpPr>
        <p:spPr>
          <a:xfrm>
            <a:off x="656927" y="3992761"/>
            <a:ext cx="368334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JavaFX-powered interface with customisable themes and responsive design.</a:t>
            </a:r>
            <a:endParaRPr lang="en-US" sz="1100" dirty="0"/>
          </a:p>
        </p:txBody>
      </p:sp>
      <p:sp>
        <p:nvSpPr>
          <p:cNvPr id="27" name="Shape 17"/>
          <p:cNvSpPr/>
          <p:nvPr/>
        </p:nvSpPr>
        <p:spPr>
          <a:xfrm>
            <a:off x="4642842" y="3331890"/>
            <a:ext cx="4004965" cy="1275308"/>
          </a:xfrm>
          <a:prstGeom prst="roundRect">
            <a:avLst>
              <a:gd name="adj" fmla="val 7170"/>
            </a:avLst>
          </a:prstGeom>
          <a:solidFill>
            <a:srgbClr val="07070C"/>
          </a:solidFill>
          <a:ln w="19050">
            <a:solidFill>
              <a:srgbClr val="3F3F44"/>
            </a:solidFill>
            <a:prstDash val="solid"/>
          </a:ln>
        </p:spPr>
      </p:sp>
      <p:pic>
        <p:nvPicPr>
          <p:cNvPr id="28" name="Image 8" descr="preencoded.png"/>
          <p:cNvPicPr>
            <a:picLocks noChangeAspect="1"/>
          </p:cNvPicPr>
          <p:nvPr/>
        </p:nvPicPr>
        <p:blipFill>
          <a:blip r:embed="rId5"/>
          <a:stretch>
            <a:fillRect/>
          </a:stretch>
        </p:blipFill>
        <p:spPr>
          <a:xfrm>
            <a:off x="4642842" y="3312840"/>
            <a:ext cx="4004965" cy="76200"/>
          </a:xfrm>
          <a:prstGeom prst="rect">
            <a:avLst/>
          </a:prstGeom>
        </p:spPr>
      </p:pic>
      <p:pic>
        <p:nvPicPr>
          <p:cNvPr id="29" name="Image 9" descr="preencoded.png"/>
          <p:cNvPicPr>
            <a:picLocks noChangeAspect="1"/>
          </p:cNvPicPr>
          <p:nvPr/>
        </p:nvPicPr>
        <p:blipFill>
          <a:blip r:embed="rId4"/>
          <a:stretch>
            <a:fillRect/>
          </a:stretch>
        </p:blipFill>
        <p:spPr>
          <a:xfrm>
            <a:off x="6432686" y="3119289"/>
            <a:ext cx="425276" cy="425276"/>
          </a:xfrm>
          <a:prstGeom prst="rect">
            <a:avLst/>
          </a:prstGeom>
        </p:spPr>
      </p:pic>
      <p:sp>
        <p:nvSpPr>
          <p:cNvPr id="30" name="Text 18"/>
          <p:cNvSpPr/>
          <p:nvPr/>
        </p:nvSpPr>
        <p:spPr>
          <a:xfrm>
            <a:off x="6331632" y="3225626"/>
            <a:ext cx="398711" cy="212601"/>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Sora Medium" pitchFamily="34" charset="0"/>
                <a:ea typeface="Sora Medium" pitchFamily="34" charset="-122"/>
                <a:cs typeface="Sora Medium" pitchFamily="34" charset="-120"/>
              </a:rPr>
              <a:t>5</a:t>
            </a:r>
            <a:endParaRPr lang="en-US" sz="1300" dirty="0"/>
          </a:p>
        </p:txBody>
      </p:sp>
      <p:sp>
        <p:nvSpPr>
          <p:cNvPr id="31" name="Text 19"/>
          <p:cNvSpPr/>
          <p:nvPr/>
        </p:nvSpPr>
        <p:spPr>
          <a:xfrm>
            <a:off x="4803651" y="3686249"/>
            <a:ext cx="2832795"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Global Command Console</a:t>
            </a:r>
            <a:endParaRPr lang="en-US" sz="1350" dirty="0"/>
          </a:p>
        </p:txBody>
      </p:sp>
      <p:sp>
        <p:nvSpPr>
          <p:cNvPr id="32" name="Text 20"/>
          <p:cNvSpPr/>
          <p:nvPr/>
        </p:nvSpPr>
        <p:spPr>
          <a:xfrm>
            <a:off x="4803651" y="3992761"/>
            <a:ext cx="368334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Execute remote Python scripts across all student machines simultaneously.</a:t>
            </a:r>
            <a:endParaRPr lang="en-US" sz="1100" dirty="0"/>
          </a:p>
        </p:txBody>
      </p:sp>
      <p:sp>
        <p:nvSpPr>
          <p:cNvPr id="33" name="Rectangle 32">
            <a:extLst>
              <a:ext uri="{FF2B5EF4-FFF2-40B4-BE49-F238E27FC236}">
                <a16:creationId xmlns:a16="http://schemas.microsoft.com/office/drawing/2014/main" id="{461B61B8-89D1-CDCD-C820-FDEFD557C3EF}"/>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69404"/>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97B8FF"/>
                </a:solidFill>
                <a:latin typeface="Sora Medium" pitchFamily="34" charset="0"/>
                <a:ea typeface="Sora Medium" pitchFamily="34" charset="-122"/>
                <a:cs typeface="Sora Medium" pitchFamily="34" charset="-120"/>
              </a:rPr>
              <a:t>Literature Review</a:t>
            </a:r>
            <a:endParaRPr lang="en-US" sz="2750" b="1" dirty="0"/>
          </a:p>
        </p:txBody>
      </p:sp>
      <p:sp>
        <p:nvSpPr>
          <p:cNvPr id="3" name="Text 1"/>
          <p:cNvSpPr/>
          <p:nvPr/>
        </p:nvSpPr>
        <p:spPr>
          <a:xfrm>
            <a:off x="496119" y="1195908"/>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Existing tools fall short in key areas — Ghost of Lab fills all these gaps.</a:t>
            </a:r>
            <a:endParaRPr lang="en-US" sz="1100" dirty="0"/>
          </a:p>
        </p:txBody>
      </p:sp>
      <p:sp>
        <p:nvSpPr>
          <p:cNvPr id="4" name="Shape 2"/>
          <p:cNvSpPr/>
          <p:nvPr/>
        </p:nvSpPr>
        <p:spPr>
          <a:xfrm>
            <a:off x="496119" y="1582192"/>
            <a:ext cx="8151763" cy="2330053"/>
          </a:xfrm>
          <a:prstGeom prst="roundRect">
            <a:avLst>
              <a:gd name="adj" fmla="val 913"/>
            </a:avLst>
          </a:prstGeom>
          <a:noFill/>
          <a:ln w="4763">
            <a:solidFill>
              <a:srgbClr val="FFFFFF">
                <a:alpha val="24000"/>
              </a:srgbClr>
            </a:solidFill>
            <a:prstDash val="solid"/>
          </a:ln>
        </p:spPr>
      </p:sp>
      <p:sp>
        <p:nvSpPr>
          <p:cNvPr id="5" name="Text 3"/>
          <p:cNvSpPr/>
          <p:nvPr/>
        </p:nvSpPr>
        <p:spPr>
          <a:xfrm>
            <a:off x="642714" y="1676772"/>
            <a:ext cx="1962522" cy="226814"/>
          </a:xfrm>
          <a:prstGeom prst="rect">
            <a:avLst/>
          </a:prstGeom>
          <a:noFill/>
          <a:ln/>
        </p:spPr>
        <p:txBody>
          <a:bodyPr wrap="none" lIns="0" tIns="0" rIns="0" bIns="0" rtlCol="0" anchor="t"/>
          <a:lstStyle/>
          <a:p>
            <a:pPr marL="0" indent="0" algn="l">
              <a:lnSpc>
                <a:spcPct val="133000"/>
              </a:lnSpc>
              <a:buNone/>
            </a:pPr>
            <a:r>
              <a:rPr lang="en-US" sz="1100" b="1" dirty="0">
                <a:solidFill>
                  <a:srgbClr val="E0D6DE"/>
                </a:solidFill>
                <a:latin typeface="Noto Sans TC" pitchFamily="34" charset="0"/>
                <a:ea typeface="Noto Sans TC" pitchFamily="34" charset="-122"/>
                <a:cs typeface="Noto Sans TC" pitchFamily="34" charset="-120"/>
              </a:rPr>
              <a:t>Tool</a:t>
            </a:r>
            <a:endParaRPr lang="en-US" sz="1100" dirty="0"/>
          </a:p>
        </p:txBody>
      </p:sp>
      <p:sp>
        <p:nvSpPr>
          <p:cNvPr id="6" name="Text 4"/>
          <p:cNvSpPr/>
          <p:nvPr/>
        </p:nvSpPr>
        <p:spPr>
          <a:xfrm>
            <a:off x="2436316" y="1676772"/>
            <a:ext cx="3344391" cy="226814"/>
          </a:xfrm>
          <a:prstGeom prst="rect">
            <a:avLst/>
          </a:prstGeom>
          <a:noFill/>
          <a:ln/>
        </p:spPr>
        <p:txBody>
          <a:bodyPr wrap="none" lIns="0" tIns="0" rIns="0" bIns="0" rtlCol="0" anchor="t"/>
          <a:lstStyle/>
          <a:p>
            <a:pPr marL="0" indent="0" algn="l">
              <a:lnSpc>
                <a:spcPct val="133000"/>
              </a:lnSpc>
              <a:buNone/>
            </a:pPr>
            <a:r>
              <a:rPr lang="en-US" sz="1100" b="1" dirty="0">
                <a:solidFill>
                  <a:srgbClr val="E0D6DE"/>
                </a:solidFill>
                <a:latin typeface="Noto Sans TC" pitchFamily="34" charset="0"/>
                <a:ea typeface="Noto Sans TC" pitchFamily="34" charset="-122"/>
                <a:cs typeface="Noto Sans TC" pitchFamily="34" charset="-120"/>
              </a:rPr>
              <a:t>Strengths</a:t>
            </a:r>
            <a:endParaRPr lang="en-US" sz="1100" dirty="0"/>
          </a:p>
        </p:txBody>
      </p:sp>
      <p:sp>
        <p:nvSpPr>
          <p:cNvPr id="7" name="Text 5"/>
          <p:cNvSpPr/>
          <p:nvPr/>
        </p:nvSpPr>
        <p:spPr>
          <a:xfrm>
            <a:off x="5611788" y="1676772"/>
            <a:ext cx="3346772" cy="226814"/>
          </a:xfrm>
          <a:prstGeom prst="rect">
            <a:avLst/>
          </a:prstGeom>
          <a:noFill/>
          <a:ln/>
        </p:spPr>
        <p:txBody>
          <a:bodyPr wrap="none" lIns="0" tIns="0" rIns="0" bIns="0" rtlCol="0" anchor="t"/>
          <a:lstStyle/>
          <a:p>
            <a:pPr marL="0" indent="0" algn="l">
              <a:lnSpc>
                <a:spcPct val="133000"/>
              </a:lnSpc>
              <a:buNone/>
            </a:pPr>
            <a:r>
              <a:rPr lang="en-US" sz="1100" b="1" dirty="0">
                <a:solidFill>
                  <a:srgbClr val="E0D6DE"/>
                </a:solidFill>
                <a:latin typeface="Noto Sans TC" pitchFamily="34" charset="0"/>
                <a:ea typeface="Noto Sans TC" pitchFamily="34" charset="-122"/>
                <a:cs typeface="Noto Sans TC" pitchFamily="34" charset="-120"/>
              </a:rPr>
              <a:t>Limitations</a:t>
            </a:r>
            <a:endParaRPr lang="en-US" sz="1100" dirty="0"/>
          </a:p>
        </p:txBody>
      </p:sp>
      <p:sp>
        <p:nvSpPr>
          <p:cNvPr id="8" name="Text 6"/>
          <p:cNvSpPr/>
          <p:nvPr/>
        </p:nvSpPr>
        <p:spPr>
          <a:xfrm>
            <a:off x="642714" y="2087984"/>
            <a:ext cx="196252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NetSupport School</a:t>
            </a:r>
            <a:endParaRPr lang="en-US" sz="1100" dirty="0"/>
          </a:p>
        </p:txBody>
      </p:sp>
      <p:sp>
        <p:nvSpPr>
          <p:cNvPr id="9" name="Text 7"/>
          <p:cNvSpPr/>
          <p:nvPr/>
        </p:nvSpPr>
        <p:spPr>
          <a:xfrm>
            <a:off x="2436316" y="2087984"/>
            <a:ext cx="2887191"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Rich classroom management, real-time screen viewing</a:t>
            </a:r>
            <a:endParaRPr lang="en-US" sz="1100" dirty="0"/>
          </a:p>
        </p:txBody>
      </p:sp>
      <p:sp>
        <p:nvSpPr>
          <p:cNvPr id="10" name="Text 8"/>
          <p:cNvSpPr/>
          <p:nvPr/>
        </p:nvSpPr>
        <p:spPr>
          <a:xfrm>
            <a:off x="5611788" y="2087984"/>
            <a:ext cx="334677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Heavy and costly for single-lab deployment</a:t>
            </a:r>
            <a:endParaRPr lang="en-US" sz="1100" dirty="0"/>
          </a:p>
        </p:txBody>
      </p:sp>
      <p:sp>
        <p:nvSpPr>
          <p:cNvPr id="11" name="Text 9"/>
          <p:cNvSpPr/>
          <p:nvPr/>
        </p:nvSpPr>
        <p:spPr>
          <a:xfrm>
            <a:off x="642714" y="2726010"/>
            <a:ext cx="196252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LANSchool</a:t>
            </a:r>
            <a:endParaRPr lang="en-US" sz="1100" dirty="0"/>
          </a:p>
        </p:txBody>
      </p:sp>
      <p:sp>
        <p:nvSpPr>
          <p:cNvPr id="12" name="Text 10"/>
          <p:cNvSpPr/>
          <p:nvPr/>
        </p:nvSpPr>
        <p:spPr>
          <a:xfrm>
            <a:off x="2436316" y="2726010"/>
            <a:ext cx="334439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View all student computers, lock screens</a:t>
            </a:r>
            <a:endParaRPr lang="en-US" sz="1100" dirty="0"/>
          </a:p>
        </p:txBody>
      </p:sp>
      <p:sp>
        <p:nvSpPr>
          <p:cNvPr id="13" name="Text 11"/>
          <p:cNvSpPr/>
          <p:nvPr/>
        </p:nvSpPr>
        <p:spPr>
          <a:xfrm>
            <a:off x="5611788" y="2726010"/>
            <a:ext cx="2889572"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No stealthy agents or custom Python integration</a:t>
            </a:r>
            <a:endParaRPr lang="en-US" sz="1100" dirty="0"/>
          </a:p>
        </p:txBody>
      </p:sp>
      <p:sp>
        <p:nvSpPr>
          <p:cNvPr id="14" name="Text 12"/>
          <p:cNvSpPr/>
          <p:nvPr/>
        </p:nvSpPr>
        <p:spPr>
          <a:xfrm>
            <a:off x="642714" y="3364037"/>
            <a:ext cx="196252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General SaaS Tools</a:t>
            </a:r>
            <a:endParaRPr lang="en-US" sz="1100" dirty="0"/>
          </a:p>
        </p:txBody>
      </p:sp>
      <p:sp>
        <p:nvSpPr>
          <p:cNvPr id="15" name="Text 13"/>
          <p:cNvSpPr/>
          <p:nvPr/>
        </p:nvSpPr>
        <p:spPr>
          <a:xfrm>
            <a:off x="2436316" y="3364037"/>
            <a:ext cx="334439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Wide scope monitoring</a:t>
            </a:r>
            <a:endParaRPr lang="en-US" sz="1100" dirty="0"/>
          </a:p>
        </p:txBody>
      </p:sp>
      <p:sp>
        <p:nvSpPr>
          <p:cNvPr id="16" name="Text 14"/>
          <p:cNvSpPr/>
          <p:nvPr/>
        </p:nvSpPr>
        <p:spPr>
          <a:xfrm>
            <a:off x="5611788" y="3364037"/>
            <a:ext cx="2889572"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No SQLite, UDP discovery, or OS-level control</a:t>
            </a:r>
            <a:endParaRPr lang="en-US" sz="1100" dirty="0"/>
          </a:p>
        </p:txBody>
      </p:sp>
      <p:sp>
        <p:nvSpPr>
          <p:cNvPr id="17" name="Shape 15"/>
          <p:cNvSpPr/>
          <p:nvPr/>
        </p:nvSpPr>
        <p:spPr>
          <a:xfrm>
            <a:off x="496119" y="4071714"/>
            <a:ext cx="8151763" cy="602382"/>
          </a:xfrm>
          <a:prstGeom prst="roundRect">
            <a:avLst>
              <a:gd name="adj" fmla="val 3530"/>
            </a:avLst>
          </a:prstGeom>
          <a:solidFill>
            <a:srgbClr val="183A13"/>
          </a:solidFill>
          <a:ln/>
        </p:spPr>
      </p:sp>
      <p:pic>
        <p:nvPicPr>
          <p:cNvPr id="18" name="Image 0" descr="preencoded.png"/>
          <p:cNvPicPr>
            <a:picLocks noChangeAspect="1"/>
          </p:cNvPicPr>
          <p:nvPr/>
        </p:nvPicPr>
        <p:blipFill>
          <a:blip r:embed="rId3"/>
          <a:stretch>
            <a:fillRect/>
          </a:stretch>
        </p:blipFill>
        <p:spPr>
          <a:xfrm>
            <a:off x="637877" y="4296296"/>
            <a:ext cx="177180" cy="141759"/>
          </a:xfrm>
          <a:prstGeom prst="rect">
            <a:avLst/>
          </a:prstGeom>
        </p:spPr>
      </p:pic>
      <p:sp>
        <p:nvSpPr>
          <p:cNvPr id="19" name="Text 16"/>
          <p:cNvSpPr/>
          <p:nvPr/>
        </p:nvSpPr>
        <p:spPr>
          <a:xfrm>
            <a:off x="956816" y="4248894"/>
            <a:ext cx="8006507" cy="226814"/>
          </a:xfrm>
          <a:prstGeom prst="rect">
            <a:avLst/>
          </a:prstGeom>
          <a:noFill/>
          <a:ln/>
        </p:spPr>
        <p:txBody>
          <a:bodyPr wrap="none" lIns="0" tIns="0" rIns="0" bIns="0" rtlCol="0" anchor="t"/>
          <a:lstStyle/>
          <a:p>
            <a:pPr marL="0" indent="0" algn="l">
              <a:lnSpc>
                <a:spcPct val="133000"/>
              </a:lnSpc>
              <a:buNone/>
            </a:pPr>
            <a:r>
              <a:rPr lang="en-US" sz="1100" dirty="0">
                <a:solidFill>
                  <a:srgbClr val="FFFFFF"/>
                </a:solidFill>
                <a:latin typeface="Noto Sans TC" pitchFamily="34" charset="0"/>
                <a:ea typeface="Noto Sans TC" pitchFamily="34" charset="-122"/>
                <a:cs typeface="Noto Sans TC" pitchFamily="34" charset="-120"/>
              </a:rPr>
              <a:t>Ghost of Lab addresses all gaps: portable, offline, Python-powered, and LAN-native.</a:t>
            </a:r>
            <a:endParaRPr lang="en-US" sz="1100" dirty="0"/>
          </a:p>
        </p:txBody>
      </p:sp>
      <p:sp>
        <p:nvSpPr>
          <p:cNvPr id="20" name="Rectangle 19">
            <a:extLst>
              <a:ext uri="{FF2B5EF4-FFF2-40B4-BE49-F238E27FC236}">
                <a16:creationId xmlns:a16="http://schemas.microsoft.com/office/drawing/2014/main" id="{3B484669-7A15-0C75-AF47-46E39F8A8DF7}"/>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211907"/>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97B8FF"/>
                </a:solidFill>
                <a:latin typeface="Sora Medium" pitchFamily="34" charset="0"/>
                <a:ea typeface="Sora Medium" pitchFamily="34" charset="-122"/>
                <a:cs typeface="Sora Medium" pitchFamily="34" charset="-120"/>
              </a:rPr>
              <a:t>Technology Stack</a:t>
            </a:r>
            <a:endParaRPr lang="en-US" sz="2750" b="1" dirty="0"/>
          </a:p>
        </p:txBody>
      </p:sp>
      <p:sp>
        <p:nvSpPr>
          <p:cNvPr id="4" name="Shape 1"/>
          <p:cNvSpPr/>
          <p:nvPr/>
        </p:nvSpPr>
        <p:spPr>
          <a:xfrm>
            <a:off x="394022" y="1867495"/>
            <a:ext cx="2392635" cy="2064097"/>
          </a:xfrm>
          <a:prstGeom prst="roundRect">
            <a:avLst>
              <a:gd name="adj" fmla="val 1030"/>
            </a:avLst>
          </a:prstGeom>
          <a:solidFill>
            <a:srgbClr val="120336"/>
          </a:solidFill>
          <a:ln/>
        </p:spPr>
      </p:sp>
      <p:sp>
        <p:nvSpPr>
          <p:cNvPr id="5" name="Text 2"/>
          <p:cNvSpPr/>
          <p:nvPr/>
        </p:nvSpPr>
        <p:spPr>
          <a:xfrm>
            <a:off x="535781" y="2009254"/>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Core Technologies</a:t>
            </a:r>
            <a:endParaRPr lang="en-US" sz="1350" dirty="0"/>
          </a:p>
        </p:txBody>
      </p:sp>
      <p:sp>
        <p:nvSpPr>
          <p:cNvPr id="6" name="Text 3"/>
          <p:cNvSpPr/>
          <p:nvPr/>
        </p:nvSpPr>
        <p:spPr>
          <a:xfrm>
            <a:off x="535781" y="2372469"/>
            <a:ext cx="2109118" cy="146000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Java 17+</a:t>
            </a:r>
            <a:r>
              <a:rPr lang="en-US" sz="1100" dirty="0">
                <a:solidFill>
                  <a:srgbClr val="E0D6DE"/>
                </a:solidFill>
                <a:latin typeface="Noto Sans TC" pitchFamily="34" charset="0"/>
                <a:ea typeface="Noto Sans TC" pitchFamily="34" charset="-122"/>
                <a:cs typeface="Noto Sans TC" pitchFamily="34" charset="-120"/>
              </a:rPr>
              <a:t> — Core logic and socket programming</a:t>
            </a:r>
            <a:endParaRPr lang="en-US" sz="1100" dirty="0"/>
          </a:p>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Python 3.x</a:t>
            </a:r>
            <a:r>
              <a:rPr lang="en-US" sz="1100" dirty="0">
                <a:solidFill>
                  <a:srgbClr val="E0D6DE"/>
                </a:solidFill>
                <a:latin typeface="Noto Sans TC" pitchFamily="34" charset="0"/>
                <a:ea typeface="Noto Sans TC" pitchFamily="34" charset="-122"/>
                <a:cs typeface="Noto Sans TC" pitchFamily="34" charset="-120"/>
              </a:rPr>
              <a:t> — System-level automation</a:t>
            </a:r>
            <a:endParaRPr lang="en-US" sz="1100" dirty="0"/>
          </a:p>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JavaFX</a:t>
            </a:r>
            <a:r>
              <a:rPr lang="en-US" sz="1100" dirty="0">
                <a:solidFill>
                  <a:srgbClr val="E0D6DE"/>
                </a:solidFill>
                <a:latin typeface="Noto Sans TC" pitchFamily="34" charset="0"/>
                <a:ea typeface="Noto Sans TC" pitchFamily="34" charset="-122"/>
                <a:cs typeface="Noto Sans TC" pitchFamily="34" charset="-120"/>
              </a:rPr>
              <a:t> — Rich GUI framework</a:t>
            </a:r>
            <a:endParaRPr lang="en-US" sz="1100" dirty="0"/>
          </a:p>
        </p:txBody>
      </p:sp>
      <p:sp>
        <p:nvSpPr>
          <p:cNvPr id="7" name="Text 4"/>
          <p:cNvSpPr/>
          <p:nvPr/>
        </p:nvSpPr>
        <p:spPr>
          <a:xfrm>
            <a:off x="3035201" y="2009254"/>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Infrastructure</a:t>
            </a:r>
            <a:endParaRPr lang="en-US" sz="1350" dirty="0"/>
          </a:p>
        </p:txBody>
      </p:sp>
      <p:sp>
        <p:nvSpPr>
          <p:cNvPr id="8" name="Text 5"/>
          <p:cNvSpPr/>
          <p:nvPr/>
        </p:nvSpPr>
        <p:spPr>
          <a:xfrm>
            <a:off x="3035201" y="2372469"/>
            <a:ext cx="2188443" cy="150956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TCP/IP Sockets</a:t>
            </a:r>
            <a:r>
              <a:rPr lang="en-US" sz="1100" dirty="0">
                <a:solidFill>
                  <a:srgbClr val="E0D6DE"/>
                </a:solidFill>
                <a:latin typeface="Noto Sans TC" pitchFamily="34" charset="0"/>
                <a:ea typeface="Noto Sans TC" pitchFamily="34" charset="-122"/>
                <a:cs typeface="Noto Sans TC" pitchFamily="34" charset="-120"/>
              </a:rPr>
              <a:t> — Data transmission</a:t>
            </a:r>
            <a:endParaRPr lang="en-US" sz="1100" dirty="0"/>
          </a:p>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UDP</a:t>
            </a:r>
            <a:r>
              <a:rPr lang="en-US" sz="1100" dirty="0">
                <a:solidFill>
                  <a:srgbClr val="E0D6DE"/>
                </a:solidFill>
                <a:latin typeface="Noto Sans TC" pitchFamily="34" charset="0"/>
                <a:ea typeface="Noto Sans TC" pitchFamily="34" charset="-122"/>
                <a:cs typeface="Noto Sans TC" pitchFamily="34" charset="-120"/>
              </a:rPr>
              <a:t> — Network discovery</a:t>
            </a:r>
            <a:endParaRPr lang="en-US" sz="1100" dirty="0"/>
          </a:p>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SQLite</a:t>
            </a:r>
            <a:r>
              <a:rPr lang="en-US" sz="1100" dirty="0">
                <a:solidFill>
                  <a:srgbClr val="E0D6DE"/>
                </a:solidFill>
                <a:latin typeface="Noto Sans TC" pitchFamily="34" charset="0"/>
                <a:ea typeface="Noto Sans TC" pitchFamily="34" charset="-122"/>
                <a:cs typeface="Noto Sans TC" pitchFamily="34" charset="-120"/>
              </a:rPr>
              <a:t> — Lightweight local database</a:t>
            </a:r>
            <a:endParaRPr lang="en-US" sz="1100" dirty="0"/>
          </a:p>
          <a:p>
            <a:pPr marL="342900" indent="-342900" algn="l">
              <a:lnSpc>
                <a:spcPct val="1330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CSS</a:t>
            </a:r>
            <a:r>
              <a:rPr lang="en-US" sz="1100" dirty="0">
                <a:solidFill>
                  <a:srgbClr val="E0D6DE"/>
                </a:solidFill>
                <a:latin typeface="Noto Sans TC" pitchFamily="34" charset="0"/>
                <a:ea typeface="Noto Sans TC" pitchFamily="34" charset="-122"/>
                <a:cs typeface="Noto Sans TC" pitchFamily="34" charset="-120"/>
              </a:rPr>
              <a:t> — Custom theming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4048" y="320040"/>
            <a:ext cx="118872" cy="118872"/>
          </a:xfrm>
          <a:prstGeom prst="ellipse">
            <a:avLst/>
          </a:prstGeom>
          <a:solidFill>
            <a:srgbClr val="22D3EE"/>
          </a:solidFill>
          <a:ln w="12700">
            <a:solidFill>
              <a:srgbClr val="22D3EE"/>
            </a:solidFill>
            <a:prstDash val="solid"/>
          </a:ln>
        </p:spPr>
      </p:sp>
      <p:sp>
        <p:nvSpPr>
          <p:cNvPr id="3" name="Text 1"/>
          <p:cNvSpPr/>
          <p:nvPr/>
        </p:nvSpPr>
        <p:spPr>
          <a:xfrm>
            <a:off x="594360" y="182880"/>
            <a:ext cx="804672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4" name="Text 2"/>
          <p:cNvSpPr/>
          <p:nvPr/>
        </p:nvSpPr>
        <p:spPr>
          <a:xfrm>
            <a:off x="8412480" y="201168"/>
            <a:ext cx="548640" cy="274320"/>
          </a:xfrm>
          <a:prstGeom prst="rect">
            <a:avLst/>
          </a:prstGeom>
          <a:noFill/>
          <a:ln/>
        </p:spPr>
        <p:txBody>
          <a:bodyPr wrap="square" lIns="0" tIns="0" rIns="0" bIns="0" rtlCol="0" anchor="ctr"/>
          <a:lstStyle/>
          <a:p>
            <a:pPr marL="0" indent="0" algn="r">
              <a:buNone/>
            </a:pPr>
            <a:endParaRPr lang="en-US" sz="1000" dirty="0"/>
          </a:p>
        </p:txBody>
      </p:sp>
      <p:sp>
        <p:nvSpPr>
          <p:cNvPr id="5" name="Shape 3"/>
          <p:cNvSpPr/>
          <p:nvPr/>
        </p:nvSpPr>
        <p:spPr>
          <a:xfrm>
            <a:off x="320040" y="960120"/>
            <a:ext cx="3200400" cy="2011680"/>
          </a:xfrm>
          <a:prstGeom prst="rect">
            <a:avLst/>
          </a:prstGeom>
          <a:solidFill>
            <a:srgbClr val="1A3052"/>
          </a:solidFill>
          <a:ln w="12700">
            <a:solidFill>
              <a:srgbClr val="1E3050"/>
            </a:solidFill>
            <a:prstDash val="solid"/>
          </a:ln>
          <a:effectLst>
            <a:outerShdw blurRad="127000" dist="38100" dir="8100000" algn="bl" rotWithShape="0">
              <a:srgbClr val="000000">
                <a:alpha val="35000"/>
              </a:srgbClr>
            </a:outerShdw>
          </a:effectLst>
        </p:spPr>
      </p:sp>
      <p:sp>
        <p:nvSpPr>
          <p:cNvPr id="6" name="Text 4"/>
          <p:cNvSpPr/>
          <p:nvPr/>
        </p:nvSpPr>
        <p:spPr>
          <a:xfrm>
            <a:off x="457200" y="1033272"/>
            <a:ext cx="2926080" cy="347472"/>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ADMIN DASHBOARD</a:t>
            </a:r>
            <a:endParaRPr lang="en-US" sz="1300" dirty="0"/>
          </a:p>
        </p:txBody>
      </p:sp>
      <p:sp>
        <p:nvSpPr>
          <p:cNvPr id="7" name="Text 5"/>
          <p:cNvSpPr/>
          <p:nvPr/>
        </p:nvSpPr>
        <p:spPr>
          <a:xfrm>
            <a:off x="457200" y="1435608"/>
            <a:ext cx="2926080" cy="14173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JavaFX GUI + thumbnail grid</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TCP server socket</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SQLite (users, sessions, logs)</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File distribution, command console</a:t>
            </a:r>
            <a:endParaRPr lang="en-US" sz="1100" dirty="0"/>
          </a:p>
        </p:txBody>
      </p:sp>
      <p:sp>
        <p:nvSpPr>
          <p:cNvPr id="8" name="Shape 6"/>
          <p:cNvSpPr/>
          <p:nvPr/>
        </p:nvSpPr>
        <p:spPr>
          <a:xfrm>
            <a:off x="5669280" y="960120"/>
            <a:ext cx="3200400" cy="2011680"/>
          </a:xfrm>
          <a:prstGeom prst="rect">
            <a:avLst/>
          </a:prstGeom>
          <a:solidFill>
            <a:srgbClr val="1A2B3C"/>
          </a:solidFill>
          <a:ln w="12700">
            <a:solidFill>
              <a:srgbClr val="1E3050"/>
            </a:solidFill>
            <a:prstDash val="solid"/>
          </a:ln>
          <a:effectLst>
            <a:outerShdw blurRad="127000" dist="38100" dir="8100000" algn="bl" rotWithShape="0">
              <a:srgbClr val="000000">
                <a:alpha val="35000"/>
              </a:srgbClr>
            </a:outerShdw>
          </a:effectLst>
        </p:spPr>
      </p:sp>
      <p:sp>
        <p:nvSpPr>
          <p:cNvPr id="9" name="Text 7"/>
          <p:cNvSpPr/>
          <p:nvPr/>
        </p:nvSpPr>
        <p:spPr>
          <a:xfrm>
            <a:off x="5806440" y="1033272"/>
            <a:ext cx="2926080" cy="347472"/>
          </a:xfrm>
          <a:prstGeom prst="rect">
            <a:avLst/>
          </a:prstGeom>
          <a:noFill/>
          <a:ln/>
        </p:spPr>
        <p:txBody>
          <a:bodyPr wrap="square" lIns="0" tIns="0" rIns="0" bIns="0" rtlCol="0" anchor="ctr"/>
          <a:lstStyle/>
          <a:p>
            <a:pPr marL="0" indent="0" algn="ctr">
              <a:buNone/>
            </a:pPr>
            <a:r>
              <a:rPr lang="en-US" sz="1300" b="1" dirty="0">
                <a:solidFill>
                  <a:srgbClr val="A78BFA"/>
                </a:solidFill>
                <a:latin typeface="Calibri" pitchFamily="34" charset="0"/>
                <a:ea typeface="Calibri" pitchFamily="34" charset="-122"/>
                <a:cs typeface="Calibri" pitchFamily="34" charset="-120"/>
              </a:rPr>
              <a:t>STUDENT AGENTS  (×N)</a:t>
            </a:r>
            <a:endParaRPr lang="en-US" sz="1300" dirty="0"/>
          </a:p>
        </p:txBody>
      </p:sp>
      <p:sp>
        <p:nvSpPr>
          <p:cNvPr id="10" name="Text 8"/>
          <p:cNvSpPr/>
          <p:nvPr/>
        </p:nvSpPr>
        <p:spPr>
          <a:xfrm>
            <a:off x="5806440" y="1435608"/>
            <a:ext cx="2926080" cy="14173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Background Java client</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Screen capture via java.awt.Robot</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Python ghost-task scripts</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Receives files and commands</a:t>
            </a:r>
            <a:endParaRPr lang="en-US" sz="1100" dirty="0"/>
          </a:p>
        </p:txBody>
      </p:sp>
      <p:sp>
        <p:nvSpPr>
          <p:cNvPr id="11" name="Shape 9"/>
          <p:cNvSpPr/>
          <p:nvPr/>
        </p:nvSpPr>
        <p:spPr>
          <a:xfrm>
            <a:off x="1920240" y="3337560"/>
            <a:ext cx="5303520" cy="1417320"/>
          </a:xfrm>
          <a:prstGeom prst="rect">
            <a:avLst/>
          </a:prstGeom>
          <a:solidFill>
            <a:srgbClr val="162236"/>
          </a:solidFill>
          <a:ln w="12700">
            <a:solidFill>
              <a:srgbClr val="1E3050"/>
            </a:solidFill>
            <a:prstDash val="solid"/>
          </a:ln>
          <a:effectLst>
            <a:outerShdw blurRad="127000" dist="38100" dir="8100000" algn="bl" rotWithShape="0">
              <a:srgbClr val="000000">
                <a:alpha val="35000"/>
              </a:srgbClr>
            </a:outerShdw>
          </a:effectLst>
        </p:spPr>
      </p:sp>
      <p:sp>
        <p:nvSpPr>
          <p:cNvPr id="12" name="Text 10"/>
          <p:cNvSpPr/>
          <p:nvPr/>
        </p:nvSpPr>
        <p:spPr>
          <a:xfrm>
            <a:off x="2103120" y="3410712"/>
            <a:ext cx="4937760" cy="329184"/>
          </a:xfrm>
          <a:prstGeom prst="rect">
            <a:avLst/>
          </a:prstGeom>
          <a:noFill/>
          <a:ln/>
        </p:spPr>
        <p:txBody>
          <a:bodyPr wrap="square" lIns="0" tIns="0" rIns="0" bIns="0" rtlCol="0" anchor="ctr"/>
          <a:lstStyle/>
          <a:p>
            <a:pPr marL="0" indent="0" algn="ctr">
              <a:buNone/>
            </a:pPr>
            <a:r>
              <a:rPr lang="en-US" sz="1300" b="1" dirty="0">
                <a:solidFill>
                  <a:srgbClr val="34D399"/>
                </a:solidFill>
                <a:latin typeface="Calibri" pitchFamily="34" charset="0"/>
                <a:ea typeface="Calibri" pitchFamily="34" charset="-122"/>
                <a:cs typeface="Calibri" pitchFamily="34" charset="-120"/>
              </a:rPr>
              <a:t>LAN COMMUNICATION LAYER</a:t>
            </a:r>
            <a:endParaRPr lang="en-US" sz="1300" dirty="0"/>
          </a:p>
        </p:txBody>
      </p:sp>
      <p:sp>
        <p:nvSpPr>
          <p:cNvPr id="13" name="Text 11"/>
          <p:cNvSpPr/>
          <p:nvPr/>
        </p:nvSpPr>
        <p:spPr>
          <a:xfrm>
            <a:off x="2103120" y="3767328"/>
            <a:ext cx="4937760" cy="347472"/>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TCP sockets — screen data, commands, file transfer       ·       UDP broadcast — student discovery &amp; registration</a:t>
            </a:r>
            <a:endParaRPr lang="en-US" sz="1100" dirty="0"/>
          </a:p>
        </p:txBody>
      </p:sp>
      <p:sp>
        <p:nvSpPr>
          <p:cNvPr id="14" name="Shape 12"/>
          <p:cNvSpPr/>
          <p:nvPr/>
        </p:nvSpPr>
        <p:spPr>
          <a:xfrm>
            <a:off x="1920240" y="2980944"/>
            <a:ext cx="0" cy="329184"/>
          </a:xfrm>
          <a:prstGeom prst="line">
            <a:avLst/>
          </a:prstGeom>
          <a:noFill/>
          <a:ln w="31750">
            <a:solidFill>
              <a:srgbClr val="22D3EE"/>
            </a:solidFill>
            <a:prstDash val="solid"/>
          </a:ln>
        </p:spPr>
      </p:sp>
      <p:sp>
        <p:nvSpPr>
          <p:cNvPr id="15" name="Text 13"/>
          <p:cNvSpPr/>
          <p:nvPr/>
        </p:nvSpPr>
        <p:spPr>
          <a:xfrm>
            <a:off x="1773936" y="3273552"/>
            <a:ext cx="292608" cy="256032"/>
          </a:xfrm>
          <a:prstGeom prst="rect">
            <a:avLst/>
          </a:prstGeom>
          <a:noFill/>
          <a:ln/>
        </p:spPr>
        <p:txBody>
          <a:bodyPr wrap="square" lIns="0" tIns="0" rIns="0" bIns="0" rtlCol="0" anchor="ctr"/>
          <a:lstStyle/>
          <a:p>
            <a:pPr marL="0" indent="0" algn="ctr">
              <a:buNone/>
            </a:pPr>
            <a:r>
              <a:rPr lang="en-US" sz="1300" dirty="0">
                <a:solidFill>
                  <a:srgbClr val="22D3EE"/>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7269480" y="2980944"/>
            <a:ext cx="0" cy="329184"/>
          </a:xfrm>
          <a:prstGeom prst="line">
            <a:avLst/>
          </a:prstGeom>
          <a:noFill/>
          <a:ln w="31750">
            <a:solidFill>
              <a:srgbClr val="A78BFA"/>
            </a:solidFill>
            <a:prstDash val="solid"/>
          </a:ln>
        </p:spPr>
      </p:sp>
      <p:sp>
        <p:nvSpPr>
          <p:cNvPr id="17" name="Text 15"/>
          <p:cNvSpPr/>
          <p:nvPr/>
        </p:nvSpPr>
        <p:spPr>
          <a:xfrm>
            <a:off x="7123176" y="3273552"/>
            <a:ext cx="292608" cy="256032"/>
          </a:xfrm>
          <a:prstGeom prst="rect">
            <a:avLst/>
          </a:prstGeom>
          <a:noFill/>
          <a:ln/>
        </p:spPr>
        <p:txBody>
          <a:bodyPr wrap="square" lIns="0" tIns="0" rIns="0" bIns="0" rtlCol="0" anchor="ctr"/>
          <a:lstStyle/>
          <a:p>
            <a:pPr marL="0" indent="0" algn="ctr">
              <a:buNone/>
            </a:pPr>
            <a:r>
              <a:rPr lang="en-US" sz="1300" dirty="0">
                <a:solidFill>
                  <a:srgbClr val="A78BFA"/>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320040" y="4828032"/>
            <a:ext cx="8503920" cy="22860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SQLite DB lives on Admin side — no external server needed</a:t>
            </a:r>
            <a:endParaRPr lang="en-US" sz="1000" dirty="0"/>
          </a:p>
        </p:txBody>
      </p:sp>
      <p:sp>
        <p:nvSpPr>
          <p:cNvPr id="19" name="Rectangle 18">
            <a:extLst>
              <a:ext uri="{FF2B5EF4-FFF2-40B4-BE49-F238E27FC236}">
                <a16:creationId xmlns:a16="http://schemas.microsoft.com/office/drawing/2014/main" id="{202F48A8-2FAC-6C7F-C4EC-BAD935AF4FB3}"/>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178049"/>
            <a:ext cx="4133701" cy="442987"/>
          </a:xfrm>
          <a:prstGeom prst="rect">
            <a:avLst/>
          </a:prstGeom>
          <a:noFill/>
          <a:ln/>
        </p:spPr>
        <p:txBody>
          <a:bodyPr wrap="none" lIns="0" tIns="0" rIns="0" bIns="0" rtlCol="0" anchor="t"/>
          <a:lstStyle/>
          <a:p>
            <a:pPr marL="0" indent="0" algn="l">
              <a:lnSpc>
                <a:spcPct val="104000"/>
              </a:lnSpc>
              <a:buNone/>
            </a:pPr>
            <a:r>
              <a:rPr lang="en-US" sz="2750" b="1" dirty="0">
                <a:solidFill>
                  <a:srgbClr val="97B8FF"/>
                </a:solidFill>
                <a:latin typeface="Sora Medium" pitchFamily="34" charset="0"/>
                <a:ea typeface="Sora Medium" pitchFamily="34" charset="-122"/>
                <a:cs typeface="Sora Medium" pitchFamily="34" charset="-120"/>
              </a:rPr>
              <a:t>Feature Comparison</a:t>
            </a:r>
            <a:endParaRPr lang="en-US" sz="2750" b="1" dirty="0"/>
          </a:p>
        </p:txBody>
      </p:sp>
      <p:sp>
        <p:nvSpPr>
          <p:cNvPr id="3" name="Shape 1"/>
          <p:cNvSpPr/>
          <p:nvPr/>
        </p:nvSpPr>
        <p:spPr>
          <a:xfrm>
            <a:off x="496119" y="1904554"/>
            <a:ext cx="8151763" cy="2060823"/>
          </a:xfrm>
          <a:prstGeom prst="roundRect">
            <a:avLst>
              <a:gd name="adj" fmla="val 1032"/>
            </a:avLst>
          </a:prstGeom>
          <a:noFill/>
          <a:ln w="4763">
            <a:solidFill>
              <a:srgbClr val="FFFFFF">
                <a:alpha val="24000"/>
              </a:srgbClr>
            </a:solidFill>
            <a:prstDash val="solid"/>
          </a:ln>
        </p:spPr>
      </p:sp>
      <p:sp>
        <p:nvSpPr>
          <p:cNvPr id="4" name="Text 2"/>
          <p:cNvSpPr/>
          <p:nvPr/>
        </p:nvSpPr>
        <p:spPr>
          <a:xfrm>
            <a:off x="642714" y="1999134"/>
            <a:ext cx="2613943" cy="226814"/>
          </a:xfrm>
          <a:prstGeom prst="rect">
            <a:avLst/>
          </a:prstGeom>
          <a:noFill/>
          <a:ln/>
        </p:spPr>
        <p:txBody>
          <a:bodyPr wrap="none" lIns="0" tIns="0" rIns="0" bIns="0" rtlCol="0" anchor="t"/>
          <a:lstStyle/>
          <a:p>
            <a:pPr marL="0" indent="0" algn="l">
              <a:lnSpc>
                <a:spcPct val="133000"/>
              </a:lnSpc>
              <a:buNone/>
            </a:pPr>
            <a:r>
              <a:rPr lang="en-US" sz="1100" b="1" dirty="0">
                <a:solidFill>
                  <a:srgbClr val="E0D6DE"/>
                </a:solidFill>
                <a:latin typeface="Noto Sans TC" pitchFamily="34" charset="0"/>
                <a:ea typeface="Noto Sans TC" pitchFamily="34" charset="-122"/>
                <a:cs typeface="Noto Sans TC" pitchFamily="34" charset="-120"/>
              </a:rPr>
              <a:t>Feature</a:t>
            </a:r>
            <a:endParaRPr lang="en-US" sz="1100" dirty="0"/>
          </a:p>
        </p:txBody>
      </p:sp>
      <p:sp>
        <p:nvSpPr>
          <p:cNvPr id="5" name="Text 3"/>
          <p:cNvSpPr/>
          <p:nvPr/>
        </p:nvSpPr>
        <p:spPr>
          <a:xfrm>
            <a:off x="3087737" y="1999134"/>
            <a:ext cx="3018681" cy="226814"/>
          </a:xfrm>
          <a:prstGeom prst="rect">
            <a:avLst/>
          </a:prstGeom>
          <a:noFill/>
          <a:ln/>
        </p:spPr>
        <p:txBody>
          <a:bodyPr wrap="none" lIns="0" tIns="0" rIns="0" bIns="0" rtlCol="0" anchor="t"/>
          <a:lstStyle/>
          <a:p>
            <a:pPr marL="0" indent="0" algn="l">
              <a:lnSpc>
                <a:spcPct val="133000"/>
              </a:lnSpc>
              <a:buNone/>
            </a:pPr>
            <a:r>
              <a:rPr lang="en-US" sz="1100" b="1" dirty="0">
                <a:solidFill>
                  <a:srgbClr val="E0D6DE"/>
                </a:solidFill>
                <a:latin typeface="Noto Sans TC" pitchFamily="34" charset="0"/>
                <a:ea typeface="Noto Sans TC" pitchFamily="34" charset="-122"/>
                <a:cs typeface="Noto Sans TC" pitchFamily="34" charset="-120"/>
              </a:rPr>
              <a:t>Existing Systems</a:t>
            </a:r>
            <a:endParaRPr lang="en-US" sz="1100" dirty="0"/>
          </a:p>
        </p:txBody>
      </p:sp>
      <p:sp>
        <p:nvSpPr>
          <p:cNvPr id="6" name="Text 4"/>
          <p:cNvSpPr/>
          <p:nvPr/>
        </p:nvSpPr>
        <p:spPr>
          <a:xfrm>
            <a:off x="5937498" y="1999134"/>
            <a:ext cx="3021062" cy="226814"/>
          </a:xfrm>
          <a:prstGeom prst="rect">
            <a:avLst/>
          </a:prstGeom>
          <a:noFill/>
          <a:ln/>
        </p:spPr>
        <p:txBody>
          <a:bodyPr wrap="none" lIns="0" tIns="0" rIns="0" bIns="0" rtlCol="0" anchor="t"/>
          <a:lstStyle/>
          <a:p>
            <a:pPr marL="0" indent="0" algn="l">
              <a:lnSpc>
                <a:spcPct val="133000"/>
              </a:lnSpc>
              <a:buNone/>
            </a:pPr>
            <a:r>
              <a:rPr lang="en-US" sz="1100" b="1" dirty="0">
                <a:solidFill>
                  <a:srgbClr val="97B8FF"/>
                </a:solidFill>
                <a:latin typeface="Noto Sans TC" pitchFamily="34" charset="0"/>
                <a:ea typeface="Noto Sans TC" pitchFamily="34" charset="-122"/>
                <a:cs typeface="Noto Sans TC" pitchFamily="34" charset="-120"/>
              </a:rPr>
              <a:t>Ghost Of Lab</a:t>
            </a:r>
            <a:endParaRPr lang="en-US" sz="1100" dirty="0"/>
          </a:p>
        </p:txBody>
      </p:sp>
      <p:sp>
        <p:nvSpPr>
          <p:cNvPr id="7" name="Text 5"/>
          <p:cNvSpPr/>
          <p:nvPr/>
        </p:nvSpPr>
        <p:spPr>
          <a:xfrm>
            <a:off x="642714" y="2410346"/>
            <a:ext cx="2613943"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Deployment</a:t>
            </a:r>
            <a:endParaRPr lang="en-US" sz="1100" dirty="0"/>
          </a:p>
        </p:txBody>
      </p:sp>
      <p:sp>
        <p:nvSpPr>
          <p:cNvPr id="8" name="Text 6"/>
          <p:cNvSpPr/>
          <p:nvPr/>
        </p:nvSpPr>
        <p:spPr>
          <a:xfrm>
            <a:off x="3087737" y="2410346"/>
            <a:ext cx="301868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Complex installers required</a:t>
            </a:r>
            <a:endParaRPr lang="en-US" sz="1100" dirty="0"/>
          </a:p>
        </p:txBody>
      </p:sp>
      <p:sp>
        <p:nvSpPr>
          <p:cNvPr id="9" name="Text 7"/>
          <p:cNvSpPr/>
          <p:nvPr/>
        </p:nvSpPr>
        <p:spPr>
          <a:xfrm>
            <a:off x="5937498" y="2410346"/>
            <a:ext cx="302106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Portable modular Java files</a:t>
            </a:r>
            <a:endParaRPr lang="en-US" sz="1100" dirty="0"/>
          </a:p>
        </p:txBody>
      </p:sp>
      <p:sp>
        <p:nvSpPr>
          <p:cNvPr id="10" name="Text 8"/>
          <p:cNvSpPr/>
          <p:nvPr/>
        </p:nvSpPr>
        <p:spPr>
          <a:xfrm>
            <a:off x="642714" y="2821558"/>
            <a:ext cx="2613943"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Customisation</a:t>
            </a:r>
            <a:endParaRPr lang="en-US" sz="1100" dirty="0"/>
          </a:p>
        </p:txBody>
      </p:sp>
      <p:sp>
        <p:nvSpPr>
          <p:cNvPr id="11" name="Text 9"/>
          <p:cNvSpPr/>
          <p:nvPr/>
        </p:nvSpPr>
        <p:spPr>
          <a:xfrm>
            <a:off x="3087737" y="2821558"/>
            <a:ext cx="301868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Static, hard-to-change UIs</a:t>
            </a:r>
            <a:endParaRPr lang="en-US" sz="1100" dirty="0"/>
          </a:p>
        </p:txBody>
      </p:sp>
      <p:sp>
        <p:nvSpPr>
          <p:cNvPr id="12" name="Text 10"/>
          <p:cNvSpPr/>
          <p:nvPr/>
        </p:nvSpPr>
        <p:spPr>
          <a:xfrm>
            <a:off x="5937498" y="2821558"/>
            <a:ext cx="302106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Dynamic JavaFX themes</a:t>
            </a:r>
            <a:endParaRPr lang="en-US" sz="1100" dirty="0"/>
          </a:p>
        </p:txBody>
      </p:sp>
      <p:sp>
        <p:nvSpPr>
          <p:cNvPr id="13" name="Text 11"/>
          <p:cNvSpPr/>
          <p:nvPr/>
        </p:nvSpPr>
        <p:spPr>
          <a:xfrm>
            <a:off x="642714" y="3232770"/>
            <a:ext cx="2613943"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Control</a:t>
            </a:r>
            <a:endParaRPr lang="en-US" sz="1100" dirty="0"/>
          </a:p>
        </p:txBody>
      </p:sp>
      <p:sp>
        <p:nvSpPr>
          <p:cNvPr id="14" name="Text 12"/>
          <p:cNvSpPr/>
          <p:nvPr/>
        </p:nvSpPr>
        <p:spPr>
          <a:xfrm>
            <a:off x="3087737" y="3232770"/>
            <a:ext cx="301868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Standard remote desktop</a:t>
            </a:r>
            <a:endParaRPr lang="en-US" sz="1100" dirty="0"/>
          </a:p>
        </p:txBody>
      </p:sp>
      <p:sp>
        <p:nvSpPr>
          <p:cNvPr id="15" name="Text 13"/>
          <p:cNvSpPr/>
          <p:nvPr/>
        </p:nvSpPr>
        <p:spPr>
          <a:xfrm>
            <a:off x="5937498" y="3232770"/>
            <a:ext cx="302106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Python-powered Ghost commands</a:t>
            </a:r>
            <a:endParaRPr lang="en-US" sz="1100" dirty="0"/>
          </a:p>
        </p:txBody>
      </p:sp>
      <p:sp>
        <p:nvSpPr>
          <p:cNvPr id="16" name="Text 14"/>
          <p:cNvSpPr/>
          <p:nvPr/>
        </p:nvSpPr>
        <p:spPr>
          <a:xfrm>
            <a:off x="642714" y="3643982"/>
            <a:ext cx="2613943"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Offline Usage</a:t>
            </a:r>
            <a:endParaRPr lang="en-US" sz="1100" dirty="0"/>
          </a:p>
        </p:txBody>
      </p:sp>
      <p:sp>
        <p:nvSpPr>
          <p:cNvPr id="17" name="Text 15"/>
          <p:cNvSpPr/>
          <p:nvPr/>
        </p:nvSpPr>
        <p:spPr>
          <a:xfrm>
            <a:off x="3087737" y="3643982"/>
            <a:ext cx="3018681"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Often needs cloud/internet</a:t>
            </a:r>
            <a:endParaRPr lang="en-US" sz="1100" dirty="0"/>
          </a:p>
        </p:txBody>
      </p:sp>
      <p:sp>
        <p:nvSpPr>
          <p:cNvPr id="18" name="Text 16"/>
          <p:cNvSpPr/>
          <p:nvPr/>
        </p:nvSpPr>
        <p:spPr>
          <a:xfrm>
            <a:off x="5937498" y="3643982"/>
            <a:ext cx="302106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100% offline LAN operation</a:t>
            </a:r>
            <a:endParaRPr lang="en-US" sz="1100" dirty="0"/>
          </a:p>
        </p:txBody>
      </p:sp>
      <p:sp>
        <p:nvSpPr>
          <p:cNvPr id="19" name="Rectangle 18">
            <a:extLst>
              <a:ext uri="{FF2B5EF4-FFF2-40B4-BE49-F238E27FC236}">
                <a16:creationId xmlns:a16="http://schemas.microsoft.com/office/drawing/2014/main" id="{AE94FDCD-16D7-4AB1-B397-7EA20670FA22}"/>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476226"/>
            <a:ext cx="4933876" cy="442987"/>
          </a:xfrm>
          <a:prstGeom prst="rect">
            <a:avLst/>
          </a:prstGeom>
          <a:noFill/>
          <a:ln/>
        </p:spPr>
        <p:txBody>
          <a:bodyPr wrap="none" lIns="0" tIns="0" rIns="0" bIns="0" rtlCol="0" anchor="t"/>
          <a:lstStyle/>
          <a:p>
            <a:pPr marL="0" indent="0" algn="l">
              <a:lnSpc>
                <a:spcPct val="104000"/>
              </a:lnSpc>
              <a:buNone/>
            </a:pPr>
            <a:r>
              <a:rPr lang="en-US" sz="2750" b="1" dirty="0">
                <a:solidFill>
                  <a:srgbClr val="97B8FF"/>
                </a:solidFill>
                <a:latin typeface="Sora Medium" pitchFamily="34" charset="0"/>
                <a:ea typeface="Sora Medium" pitchFamily="34" charset="-122"/>
                <a:cs typeface="Sora Medium" pitchFamily="34" charset="-120"/>
              </a:rPr>
              <a:t>Limitations &amp; Challenges</a:t>
            </a:r>
            <a:endParaRPr lang="en-US" sz="2750" b="1" dirty="0"/>
          </a:p>
        </p:txBody>
      </p:sp>
      <p:sp>
        <p:nvSpPr>
          <p:cNvPr id="3" name="Shape 1"/>
          <p:cNvSpPr/>
          <p:nvPr/>
        </p:nvSpPr>
        <p:spPr>
          <a:xfrm>
            <a:off x="496119" y="2131814"/>
            <a:ext cx="2622724" cy="1535385"/>
          </a:xfrm>
          <a:prstGeom prst="roundRect">
            <a:avLst>
              <a:gd name="adj" fmla="val 5956"/>
            </a:avLst>
          </a:prstGeom>
          <a:solidFill>
            <a:srgbClr val="07070C"/>
          </a:solidFill>
          <a:ln w="19050">
            <a:solidFill>
              <a:srgbClr val="3F3F44"/>
            </a:solidFill>
            <a:prstDash val="solid"/>
          </a:ln>
        </p:spPr>
      </p:sp>
      <p:pic>
        <p:nvPicPr>
          <p:cNvPr id="4" name="Image 0" descr="preencoded.png"/>
          <p:cNvPicPr>
            <a:picLocks noChangeAspect="1"/>
          </p:cNvPicPr>
          <p:nvPr/>
        </p:nvPicPr>
        <p:blipFill>
          <a:blip r:embed="rId3"/>
          <a:stretch>
            <a:fillRect/>
          </a:stretch>
        </p:blipFill>
        <p:spPr>
          <a:xfrm>
            <a:off x="477069" y="2131814"/>
            <a:ext cx="76200" cy="1535385"/>
          </a:xfrm>
          <a:prstGeom prst="rect">
            <a:avLst/>
          </a:prstGeom>
        </p:spPr>
      </p:pic>
      <p:sp>
        <p:nvSpPr>
          <p:cNvPr id="5" name="Text 2"/>
          <p:cNvSpPr/>
          <p:nvPr/>
        </p:nvSpPr>
        <p:spPr>
          <a:xfrm>
            <a:off x="714077" y="2292623"/>
            <a:ext cx="2431777"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Network Dependency</a:t>
            </a:r>
            <a:endParaRPr lang="en-US" sz="1350" dirty="0"/>
          </a:p>
        </p:txBody>
      </p:sp>
      <p:sp>
        <p:nvSpPr>
          <p:cNvPr id="6" name="Text 3"/>
          <p:cNvSpPr/>
          <p:nvPr/>
        </p:nvSpPr>
        <p:spPr>
          <a:xfrm>
            <a:off x="714077" y="2599134"/>
            <a:ext cx="224395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Operates exclusively on LAN; performance degrades on highly congested Wi-Fi environments.</a:t>
            </a:r>
            <a:endParaRPr lang="en-US" sz="1100" dirty="0"/>
          </a:p>
        </p:txBody>
      </p:sp>
      <p:sp>
        <p:nvSpPr>
          <p:cNvPr id="7" name="Shape 4"/>
          <p:cNvSpPr/>
          <p:nvPr/>
        </p:nvSpPr>
        <p:spPr>
          <a:xfrm>
            <a:off x="3260601" y="2131814"/>
            <a:ext cx="2622724" cy="1535385"/>
          </a:xfrm>
          <a:prstGeom prst="roundRect">
            <a:avLst>
              <a:gd name="adj" fmla="val 5956"/>
            </a:avLst>
          </a:prstGeom>
          <a:solidFill>
            <a:srgbClr val="07070C"/>
          </a:solidFill>
          <a:ln w="19050">
            <a:solidFill>
              <a:srgbClr val="3F3F44"/>
            </a:solidFill>
            <a:prstDash val="solid"/>
          </a:ln>
        </p:spPr>
      </p:sp>
      <p:pic>
        <p:nvPicPr>
          <p:cNvPr id="8" name="Image 1" descr="preencoded.png"/>
          <p:cNvPicPr>
            <a:picLocks noChangeAspect="1"/>
          </p:cNvPicPr>
          <p:nvPr/>
        </p:nvPicPr>
        <p:blipFill>
          <a:blip r:embed="rId3"/>
          <a:stretch>
            <a:fillRect/>
          </a:stretch>
        </p:blipFill>
        <p:spPr>
          <a:xfrm>
            <a:off x="3241551" y="2131814"/>
            <a:ext cx="76200" cy="1535385"/>
          </a:xfrm>
          <a:prstGeom prst="rect">
            <a:avLst/>
          </a:prstGeom>
        </p:spPr>
      </p:pic>
      <p:sp>
        <p:nvSpPr>
          <p:cNvPr id="9" name="Text 5"/>
          <p:cNvSpPr/>
          <p:nvPr/>
        </p:nvSpPr>
        <p:spPr>
          <a:xfrm>
            <a:off x="3478560" y="2292623"/>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OS Constraints</a:t>
            </a:r>
            <a:endParaRPr lang="en-US" sz="1350" dirty="0"/>
          </a:p>
        </p:txBody>
      </p:sp>
      <p:sp>
        <p:nvSpPr>
          <p:cNvPr id="10" name="Text 6"/>
          <p:cNvSpPr/>
          <p:nvPr/>
        </p:nvSpPr>
        <p:spPr>
          <a:xfrm>
            <a:off x="3478560" y="2599134"/>
            <a:ext cx="224395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Python ghost commands may require administrative privileges on student machines for full functionality.</a:t>
            </a:r>
            <a:endParaRPr lang="en-US" sz="1100" dirty="0"/>
          </a:p>
        </p:txBody>
      </p:sp>
      <p:sp>
        <p:nvSpPr>
          <p:cNvPr id="11" name="Shape 7"/>
          <p:cNvSpPr/>
          <p:nvPr/>
        </p:nvSpPr>
        <p:spPr>
          <a:xfrm>
            <a:off x="6025083" y="2131814"/>
            <a:ext cx="2622724" cy="1535385"/>
          </a:xfrm>
          <a:prstGeom prst="roundRect">
            <a:avLst>
              <a:gd name="adj" fmla="val 5956"/>
            </a:avLst>
          </a:prstGeom>
          <a:solidFill>
            <a:srgbClr val="07070C"/>
          </a:solidFill>
          <a:ln w="19050">
            <a:solidFill>
              <a:srgbClr val="3F3F44"/>
            </a:solidFill>
            <a:prstDash val="solid"/>
          </a:ln>
        </p:spPr>
      </p:sp>
      <p:pic>
        <p:nvPicPr>
          <p:cNvPr id="12" name="Image 2" descr="preencoded.png"/>
          <p:cNvPicPr>
            <a:picLocks noChangeAspect="1"/>
          </p:cNvPicPr>
          <p:nvPr/>
        </p:nvPicPr>
        <p:blipFill>
          <a:blip r:embed="rId3"/>
          <a:stretch>
            <a:fillRect/>
          </a:stretch>
        </p:blipFill>
        <p:spPr>
          <a:xfrm>
            <a:off x="6006033" y="2131814"/>
            <a:ext cx="76200" cy="1535385"/>
          </a:xfrm>
          <a:prstGeom prst="rect">
            <a:avLst/>
          </a:prstGeom>
        </p:spPr>
      </p:pic>
      <p:sp>
        <p:nvSpPr>
          <p:cNvPr id="13" name="Text 8"/>
          <p:cNvSpPr/>
          <p:nvPr/>
        </p:nvSpPr>
        <p:spPr>
          <a:xfrm>
            <a:off x="6243042" y="2292623"/>
            <a:ext cx="264802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Hardware Requirements</a:t>
            </a:r>
            <a:endParaRPr lang="en-US" sz="1350" dirty="0"/>
          </a:p>
        </p:txBody>
      </p:sp>
      <p:sp>
        <p:nvSpPr>
          <p:cNvPr id="14" name="Text 9"/>
          <p:cNvSpPr/>
          <p:nvPr/>
        </p:nvSpPr>
        <p:spPr>
          <a:xfrm>
            <a:off x="6243042" y="2599134"/>
            <a:ext cx="224395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Real-time broadcasting and thumbnail generation demand moderate CPU usage on both Admin and Student PCs.</a:t>
            </a:r>
            <a:endParaRPr lang="en-US" sz="1100" dirty="0"/>
          </a:p>
        </p:txBody>
      </p:sp>
      <p:sp>
        <p:nvSpPr>
          <p:cNvPr id="15" name="Rectangle 14">
            <a:extLst>
              <a:ext uri="{FF2B5EF4-FFF2-40B4-BE49-F238E27FC236}">
                <a16:creationId xmlns:a16="http://schemas.microsoft.com/office/drawing/2014/main" id="{BC2A4AC4-A1B0-E0FA-4481-04AB7954D680}"/>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65162" y="393278"/>
            <a:ext cx="4442817" cy="415305"/>
          </a:xfrm>
          <a:prstGeom prst="rect">
            <a:avLst/>
          </a:prstGeom>
          <a:noFill/>
          <a:ln/>
        </p:spPr>
        <p:txBody>
          <a:bodyPr wrap="none" lIns="0" tIns="0" rIns="0" bIns="0" rtlCol="0" anchor="t"/>
          <a:lstStyle/>
          <a:p>
            <a:pPr marL="0" indent="0" algn="l">
              <a:lnSpc>
                <a:spcPct val="104000"/>
              </a:lnSpc>
              <a:buNone/>
            </a:pPr>
            <a:r>
              <a:rPr lang="en-US" sz="2600" b="1" dirty="0">
                <a:solidFill>
                  <a:srgbClr val="97B8FF"/>
                </a:solidFill>
                <a:latin typeface="Sora Medium" pitchFamily="34" charset="0"/>
                <a:ea typeface="Sora Medium" pitchFamily="34" charset="-122"/>
                <a:cs typeface="Sora Medium" pitchFamily="34" charset="-120"/>
              </a:rPr>
              <a:t>Implementation Details</a:t>
            </a:r>
            <a:endParaRPr lang="en-US" sz="2600" b="1" dirty="0"/>
          </a:p>
        </p:txBody>
      </p:sp>
      <p:sp>
        <p:nvSpPr>
          <p:cNvPr id="3" name="Shape 1"/>
          <p:cNvSpPr/>
          <p:nvPr/>
        </p:nvSpPr>
        <p:spPr>
          <a:xfrm>
            <a:off x="465162" y="995437"/>
            <a:ext cx="8213675" cy="988740"/>
          </a:xfrm>
          <a:prstGeom prst="roundRect">
            <a:avLst>
              <a:gd name="adj" fmla="val 2016"/>
            </a:avLst>
          </a:prstGeom>
          <a:solidFill>
            <a:srgbClr val="07070C"/>
          </a:solidFill>
          <a:ln w="14288">
            <a:solidFill>
              <a:srgbClr val="3F3F44"/>
            </a:solidFill>
            <a:prstDash val="solid"/>
          </a:ln>
        </p:spPr>
      </p:sp>
      <p:sp>
        <p:nvSpPr>
          <p:cNvPr id="4" name="Shape 2"/>
          <p:cNvSpPr/>
          <p:nvPr/>
        </p:nvSpPr>
        <p:spPr>
          <a:xfrm>
            <a:off x="479450" y="1009724"/>
            <a:ext cx="531614" cy="960165"/>
          </a:xfrm>
          <a:prstGeom prst="roundRect">
            <a:avLst>
              <a:gd name="adj" fmla="val 525"/>
            </a:avLst>
          </a:prstGeom>
          <a:solidFill>
            <a:srgbClr val="26262B"/>
          </a:solidFill>
          <a:ln/>
        </p:spPr>
      </p:sp>
      <p:sp>
        <p:nvSpPr>
          <p:cNvPr id="5" name="Text 3"/>
          <p:cNvSpPr/>
          <p:nvPr/>
        </p:nvSpPr>
        <p:spPr>
          <a:xfrm>
            <a:off x="416942" y="1365200"/>
            <a:ext cx="427955" cy="249138"/>
          </a:xfrm>
          <a:prstGeom prst="rect">
            <a:avLst/>
          </a:prstGeom>
          <a:noFill/>
          <a:ln/>
        </p:spPr>
        <p:txBody>
          <a:bodyPr wrap="none" lIns="0" tIns="0" rIns="0" bIns="0" rtlCol="0" anchor="ctr"/>
          <a:lstStyle/>
          <a:p>
            <a:pPr marL="0" indent="0" algn="ctr">
              <a:lnSpc>
                <a:spcPct val="100000"/>
              </a:lnSpc>
              <a:buNone/>
            </a:pPr>
            <a:r>
              <a:rPr lang="en-US" sz="1550" dirty="0">
                <a:solidFill>
                  <a:srgbClr val="E0D6DE"/>
                </a:solidFill>
                <a:latin typeface="Sora Medium" pitchFamily="34" charset="0"/>
                <a:ea typeface="Sora Medium" pitchFamily="34" charset="-122"/>
                <a:cs typeface="Sora Medium" pitchFamily="34" charset="-120"/>
              </a:rPr>
              <a:t>1</a:t>
            </a:r>
            <a:endParaRPr lang="en-US" sz="1550" dirty="0"/>
          </a:p>
        </p:txBody>
      </p:sp>
      <p:sp>
        <p:nvSpPr>
          <p:cNvPr id="6" name="Text 4"/>
          <p:cNvSpPr/>
          <p:nvPr/>
        </p:nvSpPr>
        <p:spPr>
          <a:xfrm>
            <a:off x="1135633" y="1142628"/>
            <a:ext cx="2138065" cy="207690"/>
          </a:xfrm>
          <a:prstGeom prst="rect">
            <a:avLst/>
          </a:prstGeom>
          <a:noFill/>
          <a:ln/>
        </p:spPr>
        <p:txBody>
          <a:bodyPr wrap="none" lIns="0" tIns="0" rIns="0" bIns="0" rtlCol="0" anchor="t"/>
          <a:lstStyle/>
          <a:p>
            <a:pPr marL="0" indent="0" algn="l">
              <a:lnSpc>
                <a:spcPct val="104000"/>
              </a:lnSpc>
              <a:buNone/>
            </a:pPr>
            <a:r>
              <a:rPr lang="en-US" sz="1300" dirty="0">
                <a:solidFill>
                  <a:srgbClr val="E0D6DE"/>
                </a:solidFill>
                <a:latin typeface="Sora Medium" pitchFamily="34" charset="0"/>
                <a:ea typeface="Sora Medium" pitchFamily="34" charset="-122"/>
                <a:cs typeface="Sora Medium" pitchFamily="34" charset="-120"/>
              </a:rPr>
              <a:t>Java-Python Bridge</a:t>
            </a:r>
            <a:endParaRPr lang="en-US" sz="1300" dirty="0"/>
          </a:p>
        </p:txBody>
      </p:sp>
      <p:sp>
        <p:nvSpPr>
          <p:cNvPr id="7" name="Text 5"/>
          <p:cNvSpPr/>
          <p:nvPr/>
        </p:nvSpPr>
        <p:spPr>
          <a:xfrm>
            <a:off x="1135633" y="1425029"/>
            <a:ext cx="7396014"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E0D6DE"/>
                </a:solidFill>
                <a:latin typeface="Noto Sans TC" pitchFamily="34" charset="0"/>
                <a:ea typeface="Noto Sans TC" pitchFamily="34" charset="-122"/>
                <a:cs typeface="Noto Sans TC" pitchFamily="34" charset="-120"/>
              </a:rPr>
              <a:t>Java handles UI and network stability; Python action.py scripts execute ghost tasks like file creation and system monitoring.</a:t>
            </a:r>
            <a:endParaRPr lang="en-US" sz="1000" dirty="0"/>
          </a:p>
        </p:txBody>
      </p:sp>
      <p:sp>
        <p:nvSpPr>
          <p:cNvPr id="8" name="Shape 6"/>
          <p:cNvSpPr/>
          <p:nvPr/>
        </p:nvSpPr>
        <p:spPr>
          <a:xfrm>
            <a:off x="465162" y="2108746"/>
            <a:ext cx="8213675" cy="797421"/>
          </a:xfrm>
          <a:prstGeom prst="roundRect">
            <a:avLst>
              <a:gd name="adj" fmla="val 2500"/>
            </a:avLst>
          </a:prstGeom>
          <a:solidFill>
            <a:srgbClr val="07070C"/>
          </a:solidFill>
          <a:ln w="14288">
            <a:solidFill>
              <a:srgbClr val="3F3F44"/>
            </a:solidFill>
            <a:prstDash val="solid"/>
          </a:ln>
        </p:spPr>
      </p:sp>
      <p:sp>
        <p:nvSpPr>
          <p:cNvPr id="9" name="Shape 7"/>
          <p:cNvSpPr/>
          <p:nvPr/>
        </p:nvSpPr>
        <p:spPr>
          <a:xfrm>
            <a:off x="479450" y="2123033"/>
            <a:ext cx="531614" cy="768846"/>
          </a:xfrm>
          <a:prstGeom prst="roundRect">
            <a:avLst>
              <a:gd name="adj" fmla="val 525"/>
            </a:avLst>
          </a:prstGeom>
          <a:solidFill>
            <a:srgbClr val="26262B"/>
          </a:solidFill>
          <a:ln/>
        </p:spPr>
      </p:sp>
      <p:sp>
        <p:nvSpPr>
          <p:cNvPr id="10" name="Text 8"/>
          <p:cNvSpPr/>
          <p:nvPr/>
        </p:nvSpPr>
        <p:spPr>
          <a:xfrm>
            <a:off x="416942" y="2382887"/>
            <a:ext cx="427955" cy="249138"/>
          </a:xfrm>
          <a:prstGeom prst="rect">
            <a:avLst/>
          </a:prstGeom>
          <a:noFill/>
          <a:ln/>
        </p:spPr>
        <p:txBody>
          <a:bodyPr wrap="none" lIns="0" tIns="0" rIns="0" bIns="0" rtlCol="0" anchor="ctr"/>
          <a:lstStyle/>
          <a:p>
            <a:pPr marL="0" indent="0" algn="ctr">
              <a:lnSpc>
                <a:spcPct val="100000"/>
              </a:lnSpc>
              <a:buNone/>
            </a:pPr>
            <a:r>
              <a:rPr lang="en-US" sz="1550" dirty="0">
                <a:solidFill>
                  <a:srgbClr val="E0D6DE"/>
                </a:solidFill>
                <a:latin typeface="Sora Medium" pitchFamily="34" charset="0"/>
                <a:ea typeface="Sora Medium" pitchFamily="34" charset="-122"/>
                <a:cs typeface="Sora Medium" pitchFamily="34" charset="-120"/>
              </a:rPr>
              <a:t>2</a:t>
            </a:r>
            <a:endParaRPr lang="en-US" sz="1550" dirty="0"/>
          </a:p>
        </p:txBody>
      </p:sp>
      <p:sp>
        <p:nvSpPr>
          <p:cNvPr id="11" name="Text 9"/>
          <p:cNvSpPr/>
          <p:nvPr/>
        </p:nvSpPr>
        <p:spPr>
          <a:xfrm>
            <a:off x="1135633" y="2255937"/>
            <a:ext cx="2118494" cy="207690"/>
          </a:xfrm>
          <a:prstGeom prst="rect">
            <a:avLst/>
          </a:prstGeom>
          <a:noFill/>
          <a:ln/>
        </p:spPr>
        <p:txBody>
          <a:bodyPr wrap="none" lIns="0" tIns="0" rIns="0" bIns="0" rtlCol="0" anchor="t"/>
          <a:lstStyle/>
          <a:p>
            <a:pPr marL="0" indent="0" algn="l">
              <a:lnSpc>
                <a:spcPct val="104000"/>
              </a:lnSpc>
              <a:buNone/>
            </a:pPr>
            <a:r>
              <a:rPr lang="en-US" sz="1300" dirty="0">
                <a:solidFill>
                  <a:srgbClr val="E0D6DE"/>
                </a:solidFill>
                <a:latin typeface="Sora Medium" pitchFamily="34" charset="0"/>
                <a:ea typeface="Sora Medium" pitchFamily="34" charset="-122"/>
                <a:cs typeface="Sora Medium" pitchFamily="34" charset="-120"/>
              </a:rPr>
              <a:t>Broadcasting Logic</a:t>
            </a:r>
            <a:endParaRPr lang="en-US" sz="1300" dirty="0"/>
          </a:p>
        </p:txBody>
      </p:sp>
      <p:sp>
        <p:nvSpPr>
          <p:cNvPr id="12" name="Text 10"/>
          <p:cNvSpPr/>
          <p:nvPr/>
        </p:nvSpPr>
        <p:spPr>
          <a:xfrm>
            <a:off x="1135633" y="2538338"/>
            <a:ext cx="7853214" cy="205978"/>
          </a:xfrm>
          <a:prstGeom prst="rect">
            <a:avLst/>
          </a:prstGeom>
          <a:noFill/>
          <a:ln/>
        </p:spPr>
        <p:txBody>
          <a:bodyPr wrap="none" lIns="0" tIns="0" rIns="0" bIns="0" rtlCol="0" anchor="t"/>
          <a:lstStyle/>
          <a:p>
            <a:pPr marL="0" indent="0" algn="l">
              <a:lnSpc>
                <a:spcPct val="129000"/>
              </a:lnSpc>
              <a:buNone/>
            </a:pPr>
            <a:r>
              <a:rPr lang="en-US" sz="1000" dirty="0">
                <a:solidFill>
                  <a:srgbClr val="E0D6DE"/>
                </a:solidFill>
                <a:latin typeface="Noto Sans TC" pitchFamily="34" charset="0"/>
                <a:ea typeface="Noto Sans TC" pitchFamily="34" charset="-122"/>
                <a:cs typeface="Noto Sans TC" pitchFamily="34" charset="-120"/>
              </a:rPr>
              <a:t>java.awt.Robot captures screens, compresses into byte arrays for rapid LAN transmission.</a:t>
            </a:r>
            <a:endParaRPr lang="en-US" sz="1000" dirty="0"/>
          </a:p>
        </p:txBody>
      </p:sp>
      <p:sp>
        <p:nvSpPr>
          <p:cNvPr id="13" name="Shape 11"/>
          <p:cNvSpPr/>
          <p:nvPr/>
        </p:nvSpPr>
        <p:spPr>
          <a:xfrm>
            <a:off x="465162" y="3030736"/>
            <a:ext cx="8213675" cy="797421"/>
          </a:xfrm>
          <a:prstGeom prst="roundRect">
            <a:avLst>
              <a:gd name="adj" fmla="val 2500"/>
            </a:avLst>
          </a:prstGeom>
          <a:solidFill>
            <a:srgbClr val="07070C"/>
          </a:solidFill>
          <a:ln w="14288">
            <a:solidFill>
              <a:srgbClr val="3F3F44"/>
            </a:solidFill>
            <a:prstDash val="solid"/>
          </a:ln>
        </p:spPr>
      </p:sp>
      <p:sp>
        <p:nvSpPr>
          <p:cNvPr id="14" name="Shape 12"/>
          <p:cNvSpPr/>
          <p:nvPr/>
        </p:nvSpPr>
        <p:spPr>
          <a:xfrm>
            <a:off x="479450" y="3045023"/>
            <a:ext cx="531614" cy="768846"/>
          </a:xfrm>
          <a:prstGeom prst="roundRect">
            <a:avLst>
              <a:gd name="adj" fmla="val 525"/>
            </a:avLst>
          </a:prstGeom>
          <a:solidFill>
            <a:srgbClr val="26262B"/>
          </a:solidFill>
          <a:ln/>
        </p:spPr>
      </p:sp>
      <p:sp>
        <p:nvSpPr>
          <p:cNvPr id="15" name="Text 13"/>
          <p:cNvSpPr/>
          <p:nvPr/>
        </p:nvSpPr>
        <p:spPr>
          <a:xfrm>
            <a:off x="416942" y="3304877"/>
            <a:ext cx="427955" cy="249138"/>
          </a:xfrm>
          <a:prstGeom prst="rect">
            <a:avLst/>
          </a:prstGeom>
          <a:noFill/>
          <a:ln/>
        </p:spPr>
        <p:txBody>
          <a:bodyPr wrap="none" lIns="0" tIns="0" rIns="0" bIns="0" rtlCol="0" anchor="ctr"/>
          <a:lstStyle/>
          <a:p>
            <a:pPr marL="0" indent="0" algn="ctr">
              <a:lnSpc>
                <a:spcPct val="100000"/>
              </a:lnSpc>
              <a:buNone/>
            </a:pPr>
            <a:r>
              <a:rPr lang="en-US" sz="1550" dirty="0">
                <a:solidFill>
                  <a:srgbClr val="E0D6DE"/>
                </a:solidFill>
                <a:latin typeface="Sora Medium" pitchFamily="34" charset="0"/>
                <a:ea typeface="Sora Medium" pitchFamily="34" charset="-122"/>
                <a:cs typeface="Sora Medium" pitchFamily="34" charset="-120"/>
              </a:rPr>
              <a:t>3</a:t>
            </a:r>
            <a:endParaRPr lang="en-US" sz="1550" dirty="0"/>
          </a:p>
        </p:txBody>
      </p:sp>
      <p:sp>
        <p:nvSpPr>
          <p:cNvPr id="16" name="Text 14"/>
          <p:cNvSpPr/>
          <p:nvPr/>
        </p:nvSpPr>
        <p:spPr>
          <a:xfrm>
            <a:off x="1135633" y="3177927"/>
            <a:ext cx="2347838" cy="207690"/>
          </a:xfrm>
          <a:prstGeom prst="rect">
            <a:avLst/>
          </a:prstGeom>
          <a:noFill/>
          <a:ln/>
        </p:spPr>
        <p:txBody>
          <a:bodyPr wrap="none" lIns="0" tIns="0" rIns="0" bIns="0" rtlCol="0" anchor="t"/>
          <a:lstStyle/>
          <a:p>
            <a:pPr marL="0" indent="0" algn="l">
              <a:lnSpc>
                <a:spcPct val="104000"/>
              </a:lnSpc>
              <a:buNone/>
            </a:pPr>
            <a:r>
              <a:rPr lang="en-US" sz="1300" dirty="0">
                <a:solidFill>
                  <a:srgbClr val="E0D6DE"/>
                </a:solidFill>
                <a:latin typeface="Sora Medium" pitchFamily="34" charset="0"/>
                <a:ea typeface="Sora Medium" pitchFamily="34" charset="-122"/>
                <a:cs typeface="Sora Medium" pitchFamily="34" charset="-120"/>
              </a:rPr>
              <a:t>UI/UX Implementation</a:t>
            </a:r>
            <a:endParaRPr lang="en-US" sz="1300" dirty="0"/>
          </a:p>
        </p:txBody>
      </p:sp>
      <p:sp>
        <p:nvSpPr>
          <p:cNvPr id="17" name="Text 15"/>
          <p:cNvSpPr/>
          <p:nvPr/>
        </p:nvSpPr>
        <p:spPr>
          <a:xfrm>
            <a:off x="1135633" y="3460328"/>
            <a:ext cx="7853214" cy="205978"/>
          </a:xfrm>
          <a:prstGeom prst="rect">
            <a:avLst/>
          </a:prstGeom>
          <a:noFill/>
          <a:ln/>
        </p:spPr>
        <p:txBody>
          <a:bodyPr wrap="none" lIns="0" tIns="0" rIns="0" bIns="0" rtlCol="0" anchor="t"/>
          <a:lstStyle/>
          <a:p>
            <a:pPr marL="0" indent="0" algn="l">
              <a:lnSpc>
                <a:spcPct val="129000"/>
              </a:lnSpc>
              <a:buNone/>
            </a:pPr>
            <a:r>
              <a:rPr lang="en-US" sz="1000" dirty="0">
                <a:solidFill>
                  <a:srgbClr val="E0D6DE"/>
                </a:solidFill>
                <a:latin typeface="Noto Sans TC" pitchFamily="34" charset="0"/>
                <a:ea typeface="Noto Sans TC" pitchFamily="34" charset="-122"/>
                <a:cs typeface="Noto Sans TC" pitchFamily="34" charset="-120"/>
              </a:rPr>
              <a:t>Smooth transitions and custom toggle buttons in JavaFX with responsive design.</a:t>
            </a:r>
            <a:endParaRPr lang="en-US" sz="1000" dirty="0"/>
          </a:p>
        </p:txBody>
      </p:sp>
      <p:sp>
        <p:nvSpPr>
          <p:cNvPr id="18" name="Shape 16"/>
          <p:cNvSpPr/>
          <p:nvPr/>
        </p:nvSpPr>
        <p:spPr>
          <a:xfrm>
            <a:off x="465162" y="3952726"/>
            <a:ext cx="8213675" cy="797421"/>
          </a:xfrm>
          <a:prstGeom prst="roundRect">
            <a:avLst>
              <a:gd name="adj" fmla="val 2500"/>
            </a:avLst>
          </a:prstGeom>
          <a:solidFill>
            <a:srgbClr val="07070C"/>
          </a:solidFill>
          <a:ln w="14288">
            <a:solidFill>
              <a:srgbClr val="3F3F44"/>
            </a:solidFill>
            <a:prstDash val="solid"/>
          </a:ln>
        </p:spPr>
      </p:sp>
      <p:sp>
        <p:nvSpPr>
          <p:cNvPr id="19" name="Shape 17"/>
          <p:cNvSpPr/>
          <p:nvPr/>
        </p:nvSpPr>
        <p:spPr>
          <a:xfrm>
            <a:off x="479450" y="3967014"/>
            <a:ext cx="531614" cy="768846"/>
          </a:xfrm>
          <a:prstGeom prst="roundRect">
            <a:avLst>
              <a:gd name="adj" fmla="val 525"/>
            </a:avLst>
          </a:prstGeom>
          <a:solidFill>
            <a:srgbClr val="26262B"/>
          </a:solidFill>
          <a:ln/>
        </p:spPr>
      </p:sp>
      <p:sp>
        <p:nvSpPr>
          <p:cNvPr id="20" name="Text 18"/>
          <p:cNvSpPr/>
          <p:nvPr/>
        </p:nvSpPr>
        <p:spPr>
          <a:xfrm>
            <a:off x="416942" y="4226868"/>
            <a:ext cx="427955" cy="249138"/>
          </a:xfrm>
          <a:prstGeom prst="rect">
            <a:avLst/>
          </a:prstGeom>
          <a:noFill/>
          <a:ln/>
        </p:spPr>
        <p:txBody>
          <a:bodyPr wrap="none" lIns="0" tIns="0" rIns="0" bIns="0" rtlCol="0" anchor="ctr"/>
          <a:lstStyle/>
          <a:p>
            <a:pPr marL="0" indent="0" algn="ctr">
              <a:lnSpc>
                <a:spcPct val="100000"/>
              </a:lnSpc>
              <a:buNone/>
            </a:pPr>
            <a:r>
              <a:rPr lang="en-US" sz="1550" dirty="0">
                <a:solidFill>
                  <a:srgbClr val="E0D6DE"/>
                </a:solidFill>
                <a:latin typeface="Sora Medium" pitchFamily="34" charset="0"/>
                <a:ea typeface="Sora Medium" pitchFamily="34" charset="-122"/>
                <a:cs typeface="Sora Medium" pitchFamily="34" charset="-120"/>
              </a:rPr>
              <a:t>4</a:t>
            </a:r>
            <a:endParaRPr lang="en-US" sz="1550" dirty="0"/>
          </a:p>
        </p:txBody>
      </p:sp>
      <p:sp>
        <p:nvSpPr>
          <p:cNvPr id="21" name="Text 19"/>
          <p:cNvSpPr/>
          <p:nvPr/>
        </p:nvSpPr>
        <p:spPr>
          <a:xfrm>
            <a:off x="1135633" y="4099917"/>
            <a:ext cx="2274317" cy="207690"/>
          </a:xfrm>
          <a:prstGeom prst="rect">
            <a:avLst/>
          </a:prstGeom>
          <a:noFill/>
          <a:ln/>
        </p:spPr>
        <p:txBody>
          <a:bodyPr wrap="none" lIns="0" tIns="0" rIns="0" bIns="0" rtlCol="0" anchor="t"/>
          <a:lstStyle/>
          <a:p>
            <a:pPr marL="0" indent="0" algn="l">
              <a:lnSpc>
                <a:spcPct val="104000"/>
              </a:lnSpc>
              <a:buNone/>
            </a:pPr>
            <a:r>
              <a:rPr lang="en-US" sz="1300" dirty="0">
                <a:solidFill>
                  <a:srgbClr val="E0D6DE"/>
                </a:solidFill>
                <a:latin typeface="Sora Medium" pitchFamily="34" charset="0"/>
                <a:ea typeface="Sora Medium" pitchFamily="34" charset="-122"/>
                <a:cs typeface="Sora Medium" pitchFamily="34" charset="-120"/>
              </a:rPr>
              <a:t>UserData Persistence</a:t>
            </a:r>
            <a:endParaRPr lang="en-US" sz="1300" dirty="0"/>
          </a:p>
        </p:txBody>
      </p:sp>
      <p:sp>
        <p:nvSpPr>
          <p:cNvPr id="22" name="Text 20"/>
          <p:cNvSpPr/>
          <p:nvPr/>
        </p:nvSpPr>
        <p:spPr>
          <a:xfrm>
            <a:off x="1135633" y="4382319"/>
            <a:ext cx="7853214" cy="205978"/>
          </a:xfrm>
          <a:prstGeom prst="rect">
            <a:avLst/>
          </a:prstGeom>
          <a:noFill/>
          <a:ln/>
        </p:spPr>
        <p:txBody>
          <a:bodyPr wrap="none" lIns="0" tIns="0" rIns="0" bIns="0" rtlCol="0" anchor="t"/>
          <a:lstStyle/>
          <a:p>
            <a:pPr marL="0" indent="0" algn="l">
              <a:lnSpc>
                <a:spcPct val="129000"/>
              </a:lnSpc>
              <a:buNone/>
            </a:pPr>
            <a:r>
              <a:rPr lang="en-US" sz="1000" dirty="0">
                <a:solidFill>
                  <a:srgbClr val="E0D6DE"/>
                </a:solidFill>
                <a:latin typeface="Noto Sans TC" pitchFamily="34" charset="0"/>
                <a:ea typeface="Noto Sans TC" pitchFamily="34" charset="-122"/>
                <a:cs typeface="Noto Sans TC" pitchFamily="34" charset="-120"/>
              </a:rPr>
              <a:t>Registration module stores student details locally for persistent login across lab sessions.</a:t>
            </a:r>
            <a:endParaRPr lang="en-US" sz="1000" dirty="0"/>
          </a:p>
        </p:txBody>
      </p:sp>
      <p:sp>
        <p:nvSpPr>
          <p:cNvPr id="23" name="Rectangle 22">
            <a:extLst>
              <a:ext uri="{FF2B5EF4-FFF2-40B4-BE49-F238E27FC236}">
                <a16:creationId xmlns:a16="http://schemas.microsoft.com/office/drawing/2014/main" id="{349C64CB-1984-5CF9-E7BF-74CE995D465C}"/>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41871" y="350713"/>
            <a:ext cx="3613696" cy="394543"/>
          </a:xfrm>
          <a:prstGeom prst="rect">
            <a:avLst/>
          </a:prstGeom>
          <a:noFill/>
          <a:ln/>
        </p:spPr>
        <p:txBody>
          <a:bodyPr wrap="none" lIns="0" tIns="0" rIns="0" bIns="0" rtlCol="0" anchor="t"/>
          <a:lstStyle/>
          <a:p>
            <a:pPr marL="0" indent="0" algn="l">
              <a:lnSpc>
                <a:spcPct val="104000"/>
              </a:lnSpc>
              <a:buNone/>
            </a:pPr>
            <a:r>
              <a:rPr lang="en-US" sz="2450" b="1" dirty="0">
                <a:solidFill>
                  <a:srgbClr val="97B8FF"/>
                </a:solidFill>
                <a:latin typeface="Sora Medium" pitchFamily="34" charset="0"/>
                <a:ea typeface="Sora Medium" pitchFamily="34" charset="-122"/>
                <a:cs typeface="Sora Medium" pitchFamily="34" charset="-120"/>
              </a:rPr>
              <a:t>Key Features</a:t>
            </a:r>
            <a:endParaRPr lang="en-US" sz="2450" b="1" dirty="0"/>
          </a:p>
        </p:txBody>
      </p:sp>
      <p:sp>
        <p:nvSpPr>
          <p:cNvPr id="3" name="Shape 1"/>
          <p:cNvSpPr/>
          <p:nvPr/>
        </p:nvSpPr>
        <p:spPr>
          <a:xfrm>
            <a:off x="441871" y="970136"/>
            <a:ext cx="4073872" cy="1199257"/>
          </a:xfrm>
          <a:prstGeom prst="roundRect">
            <a:avLst>
              <a:gd name="adj" fmla="val 1579"/>
            </a:avLst>
          </a:prstGeom>
          <a:solidFill>
            <a:srgbClr val="26262B"/>
          </a:solidFill>
          <a:ln/>
        </p:spPr>
      </p:sp>
      <p:pic>
        <p:nvPicPr>
          <p:cNvPr id="4" name="Image 0" descr="preencoded.png"/>
          <p:cNvPicPr>
            <a:picLocks noChangeAspect="1"/>
          </p:cNvPicPr>
          <p:nvPr/>
        </p:nvPicPr>
        <p:blipFill>
          <a:blip r:embed="rId3"/>
          <a:stretch>
            <a:fillRect/>
          </a:stretch>
        </p:blipFill>
        <p:spPr>
          <a:xfrm>
            <a:off x="568077" y="1096342"/>
            <a:ext cx="378768" cy="378768"/>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257" y="1200448"/>
            <a:ext cx="170408" cy="170408"/>
          </a:xfrm>
          <a:prstGeom prst="rect">
            <a:avLst/>
          </a:prstGeom>
        </p:spPr>
      </p:pic>
      <p:sp>
        <p:nvSpPr>
          <p:cNvPr id="6" name="Text 2"/>
          <p:cNvSpPr/>
          <p:nvPr/>
        </p:nvSpPr>
        <p:spPr>
          <a:xfrm>
            <a:off x="568077" y="1587550"/>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Modular Engine</a:t>
            </a:r>
            <a:endParaRPr lang="en-US" sz="1200" dirty="0"/>
          </a:p>
        </p:txBody>
      </p:sp>
      <p:sp>
        <p:nvSpPr>
          <p:cNvPr id="7" name="Text 3"/>
          <p:cNvSpPr/>
          <p:nvPr/>
        </p:nvSpPr>
        <p:spPr>
          <a:xfrm>
            <a:off x="568077" y="1852240"/>
            <a:ext cx="4278660"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Decoupled networking and UI for easy scaling.</a:t>
            </a:r>
            <a:endParaRPr lang="en-US" sz="950" dirty="0"/>
          </a:p>
        </p:txBody>
      </p:sp>
      <p:sp>
        <p:nvSpPr>
          <p:cNvPr id="8" name="Shape 4"/>
          <p:cNvSpPr/>
          <p:nvPr/>
        </p:nvSpPr>
        <p:spPr>
          <a:xfrm>
            <a:off x="4628183" y="970136"/>
            <a:ext cx="4073947" cy="1199257"/>
          </a:xfrm>
          <a:prstGeom prst="roundRect">
            <a:avLst>
              <a:gd name="adj" fmla="val 1579"/>
            </a:avLst>
          </a:prstGeom>
          <a:solidFill>
            <a:srgbClr val="26262B"/>
          </a:solidFill>
          <a:ln/>
        </p:spPr>
      </p:sp>
      <p:pic>
        <p:nvPicPr>
          <p:cNvPr id="9" name="Image 2" descr="preencoded.png"/>
          <p:cNvPicPr>
            <a:picLocks noChangeAspect="1"/>
          </p:cNvPicPr>
          <p:nvPr/>
        </p:nvPicPr>
        <p:blipFill>
          <a:blip r:embed="rId5"/>
          <a:stretch>
            <a:fillRect/>
          </a:stretch>
        </p:blipFill>
        <p:spPr>
          <a:xfrm>
            <a:off x="4754389" y="1096342"/>
            <a:ext cx="378768" cy="378768"/>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8569" y="1200448"/>
            <a:ext cx="170408" cy="170408"/>
          </a:xfrm>
          <a:prstGeom prst="rect">
            <a:avLst/>
          </a:prstGeom>
        </p:spPr>
      </p:pic>
      <p:sp>
        <p:nvSpPr>
          <p:cNvPr id="11" name="Text 5"/>
          <p:cNvSpPr/>
          <p:nvPr/>
        </p:nvSpPr>
        <p:spPr>
          <a:xfrm>
            <a:off x="4754389" y="1587550"/>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Admin Dashboard</a:t>
            </a:r>
            <a:endParaRPr lang="en-US" sz="1200" dirty="0"/>
          </a:p>
        </p:txBody>
      </p:sp>
      <p:sp>
        <p:nvSpPr>
          <p:cNvPr id="12" name="Text 6"/>
          <p:cNvSpPr/>
          <p:nvPr/>
        </p:nvSpPr>
        <p:spPr>
          <a:xfrm>
            <a:off x="4754389" y="1852240"/>
            <a:ext cx="4278734"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Live thumbnail grid of all connected student screens.</a:t>
            </a:r>
            <a:endParaRPr lang="en-US" sz="950" dirty="0"/>
          </a:p>
        </p:txBody>
      </p:sp>
      <p:sp>
        <p:nvSpPr>
          <p:cNvPr id="13" name="Shape 7"/>
          <p:cNvSpPr/>
          <p:nvPr/>
        </p:nvSpPr>
        <p:spPr>
          <a:xfrm>
            <a:off x="441871" y="2281833"/>
            <a:ext cx="4073872" cy="1199257"/>
          </a:xfrm>
          <a:prstGeom prst="roundRect">
            <a:avLst>
              <a:gd name="adj" fmla="val 1579"/>
            </a:avLst>
          </a:prstGeom>
          <a:solidFill>
            <a:srgbClr val="26262B"/>
          </a:solidFill>
          <a:ln/>
        </p:spPr>
      </p:sp>
      <p:pic>
        <p:nvPicPr>
          <p:cNvPr id="14" name="Image 4" descr="preencoded.png"/>
          <p:cNvPicPr>
            <a:picLocks noChangeAspect="1"/>
          </p:cNvPicPr>
          <p:nvPr/>
        </p:nvPicPr>
        <p:blipFill>
          <a:blip r:embed="rId7"/>
          <a:stretch>
            <a:fillRect/>
          </a:stretch>
        </p:blipFill>
        <p:spPr>
          <a:xfrm>
            <a:off x="568077" y="2408039"/>
            <a:ext cx="378768" cy="378768"/>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2257" y="2512144"/>
            <a:ext cx="170408" cy="170408"/>
          </a:xfrm>
          <a:prstGeom prst="rect">
            <a:avLst/>
          </a:prstGeom>
        </p:spPr>
      </p:pic>
      <p:sp>
        <p:nvSpPr>
          <p:cNvPr id="16" name="Text 8"/>
          <p:cNvSpPr/>
          <p:nvPr/>
        </p:nvSpPr>
        <p:spPr>
          <a:xfrm>
            <a:off x="568077" y="2899246"/>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Global Console</a:t>
            </a:r>
            <a:endParaRPr lang="en-US" sz="1200" dirty="0"/>
          </a:p>
        </p:txBody>
      </p:sp>
      <p:sp>
        <p:nvSpPr>
          <p:cNvPr id="17" name="Text 9"/>
          <p:cNvSpPr/>
          <p:nvPr/>
        </p:nvSpPr>
        <p:spPr>
          <a:xfrm>
            <a:off x="568077" y="3163937"/>
            <a:ext cx="4278660"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Broadcast commands to all or specific machines.</a:t>
            </a:r>
            <a:endParaRPr lang="en-US" sz="950" dirty="0"/>
          </a:p>
        </p:txBody>
      </p:sp>
      <p:sp>
        <p:nvSpPr>
          <p:cNvPr id="18" name="Shape 10"/>
          <p:cNvSpPr/>
          <p:nvPr/>
        </p:nvSpPr>
        <p:spPr>
          <a:xfrm>
            <a:off x="4628183" y="2281833"/>
            <a:ext cx="4073947" cy="1199257"/>
          </a:xfrm>
          <a:prstGeom prst="roundRect">
            <a:avLst>
              <a:gd name="adj" fmla="val 1579"/>
            </a:avLst>
          </a:prstGeom>
          <a:solidFill>
            <a:srgbClr val="26262B"/>
          </a:solidFill>
          <a:ln/>
        </p:spPr>
      </p:sp>
      <p:pic>
        <p:nvPicPr>
          <p:cNvPr id="19" name="Image 6" descr="preencoded.png"/>
          <p:cNvPicPr>
            <a:picLocks noChangeAspect="1"/>
          </p:cNvPicPr>
          <p:nvPr/>
        </p:nvPicPr>
        <p:blipFill>
          <a:blip r:embed="rId9"/>
          <a:stretch>
            <a:fillRect/>
          </a:stretch>
        </p:blipFill>
        <p:spPr>
          <a:xfrm>
            <a:off x="4754389" y="2408039"/>
            <a:ext cx="378768" cy="378768"/>
          </a:xfrm>
          <a:prstGeom prst="rect">
            <a:avLst/>
          </a:prstGeom>
        </p:spPr>
      </p:pic>
      <p:pic>
        <p:nvPicPr>
          <p:cNvPr id="2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58569" y="2512144"/>
            <a:ext cx="170408" cy="170408"/>
          </a:xfrm>
          <a:prstGeom prst="rect">
            <a:avLst/>
          </a:prstGeom>
        </p:spPr>
      </p:pic>
      <p:sp>
        <p:nvSpPr>
          <p:cNvPr id="21" name="Text 11"/>
          <p:cNvSpPr/>
          <p:nvPr/>
        </p:nvSpPr>
        <p:spPr>
          <a:xfrm>
            <a:off x="4754389" y="2899246"/>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File Distribution</a:t>
            </a:r>
            <a:endParaRPr lang="en-US" sz="1200" dirty="0"/>
          </a:p>
        </p:txBody>
      </p:sp>
      <p:sp>
        <p:nvSpPr>
          <p:cNvPr id="22" name="Text 12"/>
          <p:cNvSpPr/>
          <p:nvPr/>
        </p:nvSpPr>
        <p:spPr>
          <a:xfrm>
            <a:off x="4754389" y="3163937"/>
            <a:ext cx="4278734"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Instant file pushing from Admin PC to student desktops.</a:t>
            </a:r>
            <a:endParaRPr lang="en-US" sz="950" dirty="0"/>
          </a:p>
        </p:txBody>
      </p:sp>
      <p:sp>
        <p:nvSpPr>
          <p:cNvPr id="23" name="Shape 13"/>
          <p:cNvSpPr/>
          <p:nvPr/>
        </p:nvSpPr>
        <p:spPr>
          <a:xfrm>
            <a:off x="441871" y="3593529"/>
            <a:ext cx="4073872" cy="1199257"/>
          </a:xfrm>
          <a:prstGeom prst="roundRect">
            <a:avLst>
              <a:gd name="adj" fmla="val 1579"/>
            </a:avLst>
          </a:prstGeom>
          <a:solidFill>
            <a:srgbClr val="26262B"/>
          </a:solidFill>
          <a:ln/>
        </p:spPr>
      </p:sp>
      <p:pic>
        <p:nvPicPr>
          <p:cNvPr id="24" name="Image 8" descr="preencoded.png"/>
          <p:cNvPicPr>
            <a:picLocks noChangeAspect="1"/>
          </p:cNvPicPr>
          <p:nvPr/>
        </p:nvPicPr>
        <p:blipFill>
          <a:blip r:embed="rId11"/>
          <a:stretch>
            <a:fillRect/>
          </a:stretch>
        </p:blipFill>
        <p:spPr>
          <a:xfrm>
            <a:off x="568077" y="3719736"/>
            <a:ext cx="378768" cy="378768"/>
          </a:xfrm>
          <a:prstGeom prst="rect">
            <a:avLst/>
          </a:prstGeom>
        </p:spPr>
      </p:pic>
      <p:pic>
        <p:nvPicPr>
          <p:cNvPr id="25"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72257" y="3823841"/>
            <a:ext cx="170408" cy="170408"/>
          </a:xfrm>
          <a:prstGeom prst="rect">
            <a:avLst/>
          </a:prstGeom>
        </p:spPr>
      </p:pic>
      <p:sp>
        <p:nvSpPr>
          <p:cNvPr id="26" name="Text 14"/>
          <p:cNvSpPr/>
          <p:nvPr/>
        </p:nvSpPr>
        <p:spPr>
          <a:xfrm>
            <a:off x="568077" y="4210943"/>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LAN Social Hub</a:t>
            </a:r>
            <a:endParaRPr lang="en-US" sz="1200" dirty="0"/>
          </a:p>
        </p:txBody>
      </p:sp>
      <p:sp>
        <p:nvSpPr>
          <p:cNvPr id="27" name="Text 15"/>
          <p:cNvSpPr/>
          <p:nvPr/>
        </p:nvSpPr>
        <p:spPr>
          <a:xfrm>
            <a:off x="568077" y="4475634"/>
            <a:ext cx="4278660"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Secure peer-to-peer and group chat for collaboration.</a:t>
            </a:r>
            <a:endParaRPr lang="en-US" sz="950" dirty="0"/>
          </a:p>
        </p:txBody>
      </p:sp>
      <p:sp>
        <p:nvSpPr>
          <p:cNvPr id="28" name="Shape 16"/>
          <p:cNvSpPr/>
          <p:nvPr/>
        </p:nvSpPr>
        <p:spPr>
          <a:xfrm>
            <a:off x="4628183" y="3593529"/>
            <a:ext cx="4073947" cy="1199257"/>
          </a:xfrm>
          <a:prstGeom prst="roundRect">
            <a:avLst>
              <a:gd name="adj" fmla="val 1579"/>
            </a:avLst>
          </a:prstGeom>
          <a:solidFill>
            <a:srgbClr val="26262B"/>
          </a:solidFill>
          <a:ln/>
        </p:spPr>
      </p:sp>
      <p:pic>
        <p:nvPicPr>
          <p:cNvPr id="29" name="Image 10" descr="preencoded.png"/>
          <p:cNvPicPr>
            <a:picLocks noChangeAspect="1"/>
          </p:cNvPicPr>
          <p:nvPr/>
        </p:nvPicPr>
        <p:blipFill>
          <a:blip r:embed="rId13"/>
          <a:stretch>
            <a:fillRect/>
          </a:stretch>
        </p:blipFill>
        <p:spPr>
          <a:xfrm>
            <a:off x="4754389" y="3719736"/>
            <a:ext cx="378768" cy="378768"/>
          </a:xfrm>
          <a:prstGeom prst="rect">
            <a:avLst/>
          </a:prstGeom>
        </p:spPr>
      </p:pic>
      <p:pic>
        <p:nvPicPr>
          <p:cNvPr id="30"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858569" y="3823841"/>
            <a:ext cx="170408" cy="170408"/>
          </a:xfrm>
          <a:prstGeom prst="rect">
            <a:avLst/>
          </a:prstGeom>
        </p:spPr>
      </p:pic>
      <p:sp>
        <p:nvSpPr>
          <p:cNvPr id="31" name="Text 17"/>
          <p:cNvSpPr/>
          <p:nvPr/>
        </p:nvSpPr>
        <p:spPr>
          <a:xfrm>
            <a:off x="4754389" y="4210943"/>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AI Integration</a:t>
            </a:r>
            <a:endParaRPr lang="en-US" sz="1200" dirty="0"/>
          </a:p>
        </p:txBody>
      </p:sp>
      <p:sp>
        <p:nvSpPr>
          <p:cNvPr id="32" name="Text 18"/>
          <p:cNvSpPr/>
          <p:nvPr/>
        </p:nvSpPr>
        <p:spPr>
          <a:xfrm>
            <a:off x="4754389" y="4475634"/>
            <a:ext cx="4278734" cy="190946"/>
          </a:xfrm>
          <a:prstGeom prst="rect">
            <a:avLst/>
          </a:prstGeom>
          <a:noFill/>
          <a:ln/>
        </p:spPr>
        <p:txBody>
          <a:bodyPr wrap="none" lIns="0" tIns="0" rIns="0" bIns="0" rtlCol="0" anchor="t"/>
          <a:lstStyle/>
          <a:p>
            <a:pPr marL="0" indent="0" algn="l">
              <a:lnSpc>
                <a:spcPct val="126000"/>
              </a:lnSpc>
              <a:buNone/>
            </a:pPr>
            <a:r>
              <a:rPr lang="en-US" sz="950" dirty="0">
                <a:solidFill>
                  <a:srgbClr val="E0D6DE"/>
                </a:solidFill>
                <a:latin typeface="Noto Sans TC" pitchFamily="34" charset="0"/>
                <a:ea typeface="Noto Sans TC" pitchFamily="34" charset="-122"/>
                <a:cs typeface="Noto Sans TC" pitchFamily="34" charset="-120"/>
              </a:rPr>
              <a:t>Students access AI with an admin-controlled system prompt.</a:t>
            </a:r>
            <a:endParaRPr lang="en-US" sz="950" dirty="0"/>
          </a:p>
        </p:txBody>
      </p:sp>
      <p:sp>
        <p:nvSpPr>
          <p:cNvPr id="33" name="Rectangle 32">
            <a:extLst>
              <a:ext uri="{FF2B5EF4-FFF2-40B4-BE49-F238E27FC236}">
                <a16:creationId xmlns:a16="http://schemas.microsoft.com/office/drawing/2014/main" id="{1546A669-70DA-BCC6-0F50-F8C9B9CFB4EF}"/>
              </a:ext>
            </a:extLst>
          </p:cNvPr>
          <p:cNvSpPr/>
          <p:nvPr/>
        </p:nvSpPr>
        <p:spPr>
          <a:xfrm>
            <a:off x="7854287" y="4804012"/>
            <a:ext cx="1289713" cy="339488"/>
          </a:xfrm>
          <a:prstGeom prst="rect">
            <a:avLst/>
          </a:prstGeom>
          <a:solidFill>
            <a:srgbClr val="07070C"/>
          </a:solidFill>
          <a:ln>
            <a:solidFill>
              <a:srgbClr val="0707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88180" y="784448"/>
            <a:ext cx="3663702" cy="457870"/>
          </a:xfrm>
          <a:prstGeom prst="rect">
            <a:avLst/>
          </a:prstGeom>
          <a:noFill/>
          <a:ln/>
        </p:spPr>
        <p:txBody>
          <a:bodyPr wrap="none" lIns="0" tIns="0" rIns="0" bIns="0" rtlCol="0" anchor="t"/>
          <a:lstStyle/>
          <a:p>
            <a:pPr>
              <a:lnSpc>
                <a:spcPts val="3594"/>
              </a:lnSpc>
            </a:pPr>
            <a:r>
              <a:rPr lang="en-US" sz="2875" b="1" dirty="0">
                <a:solidFill>
                  <a:srgbClr val="FF8AAF"/>
                </a:solidFill>
                <a:latin typeface="Georgia" panose="02040502050405020303" pitchFamily="18" charset="0"/>
                <a:ea typeface="Petrona Bold" pitchFamily="34" charset="-122"/>
                <a:cs typeface="Petrona Bold" pitchFamily="34" charset="-120"/>
              </a:rPr>
              <a:t>Conclusion</a:t>
            </a:r>
            <a:endParaRPr lang="en-US" sz="2875" dirty="0"/>
          </a:p>
        </p:txBody>
      </p:sp>
      <p:sp>
        <p:nvSpPr>
          <p:cNvPr id="4" name="Text 1"/>
          <p:cNvSpPr/>
          <p:nvPr/>
        </p:nvSpPr>
        <p:spPr>
          <a:xfrm>
            <a:off x="688180" y="1644153"/>
            <a:ext cx="7957766" cy="443210"/>
          </a:xfrm>
          <a:prstGeom prst="rect">
            <a:avLst/>
          </a:prstGeom>
          <a:noFill/>
          <a:ln/>
        </p:spPr>
        <p:txBody>
          <a:bodyPr wrap="square" lIns="0" tIns="0" rIns="0" bIns="0" rtlCol="0" anchor="t"/>
          <a:lstStyle/>
          <a:p>
            <a:pPr>
              <a:lnSpc>
                <a:spcPts val="1719"/>
              </a:lnSpc>
            </a:pPr>
            <a:r>
              <a:rPr lang="en-US" sz="1094" dirty="0">
                <a:solidFill>
                  <a:srgbClr val="E0D6DE"/>
                </a:solidFill>
                <a:latin typeface="Inter" pitchFamily="34" charset="0"/>
                <a:ea typeface="Inter" pitchFamily="34" charset="-122"/>
                <a:cs typeface="Inter" pitchFamily="34" charset="-120"/>
              </a:rPr>
              <a:t>"The Ghost Of Lab" successfully integrates Java's stability with Python's flexibility, delivering a robust classroom management solution.</a:t>
            </a:r>
          </a:p>
          <a:p>
            <a:pPr>
              <a:lnSpc>
                <a:spcPts val="1719"/>
              </a:lnSpc>
            </a:pPr>
            <a:endParaRPr lang="en-US" sz="1094" dirty="0">
              <a:solidFill>
                <a:srgbClr val="E0D6DE"/>
              </a:solidFill>
              <a:latin typeface="Inter" pitchFamily="34" charset="0"/>
              <a:cs typeface="Inter" pitchFamily="34" charset="-120"/>
            </a:endParaRPr>
          </a:p>
          <a:p>
            <a:pPr>
              <a:lnSpc>
                <a:spcPts val="1719"/>
              </a:lnSpc>
            </a:pPr>
            <a:r>
              <a:rPr lang="en-US" sz="1094" dirty="0">
                <a:solidFill>
                  <a:schemeClr val="bg1"/>
                </a:solidFill>
              </a:rPr>
              <a:t>We built Ghost Of Lab because we are the students who sit in those labs. We saw the problem from the inside. And we decided that if nobody else was going to solve it — we would.</a:t>
            </a:r>
          </a:p>
        </p:txBody>
      </p:sp>
      <p:sp>
        <p:nvSpPr>
          <p:cNvPr id="5" name="Shape 2"/>
          <p:cNvSpPr/>
          <p:nvPr/>
        </p:nvSpPr>
        <p:spPr>
          <a:xfrm>
            <a:off x="478853" y="1826875"/>
            <a:ext cx="19050" cy="752326"/>
          </a:xfrm>
          <a:prstGeom prst="rect">
            <a:avLst/>
          </a:prstGeom>
          <a:solidFill>
            <a:srgbClr val="876CD4"/>
          </a:solidFill>
          <a:ln/>
        </p:spPr>
      </p:sp>
      <p:sp>
        <p:nvSpPr>
          <p:cNvPr id="6" name="Shape 3"/>
          <p:cNvSpPr/>
          <p:nvPr/>
        </p:nvSpPr>
        <p:spPr>
          <a:xfrm>
            <a:off x="478853" y="3335786"/>
            <a:ext cx="8167093" cy="1043136"/>
          </a:xfrm>
          <a:prstGeom prst="roundRect">
            <a:avLst>
              <a:gd name="adj" fmla="val 5620"/>
            </a:avLst>
          </a:prstGeom>
          <a:solidFill>
            <a:srgbClr val="2F1D63"/>
          </a:solidFill>
          <a:ln w="7620">
            <a:solidFill>
              <a:srgbClr val="48367C"/>
            </a:solidFill>
            <a:prstDash val="solid"/>
          </a:ln>
        </p:spPr>
      </p:sp>
      <p:sp>
        <p:nvSpPr>
          <p:cNvPr id="7" name="Shape 4"/>
          <p:cNvSpPr/>
          <p:nvPr/>
        </p:nvSpPr>
        <p:spPr>
          <a:xfrm>
            <a:off x="498054" y="3331613"/>
            <a:ext cx="2719164" cy="1033611"/>
          </a:xfrm>
          <a:prstGeom prst="roundRect">
            <a:avLst>
              <a:gd name="adj" fmla="val 5671"/>
            </a:avLst>
          </a:prstGeom>
          <a:solidFill>
            <a:srgbClr val="2F1D63"/>
          </a:solidFill>
          <a:ln/>
        </p:spPr>
      </p:sp>
      <p:sp>
        <p:nvSpPr>
          <p:cNvPr id="8" name="Text 5"/>
          <p:cNvSpPr/>
          <p:nvPr/>
        </p:nvSpPr>
        <p:spPr>
          <a:xfrm>
            <a:off x="632743" y="3466376"/>
            <a:ext cx="1831851" cy="228972"/>
          </a:xfrm>
          <a:prstGeom prst="rect">
            <a:avLst/>
          </a:prstGeom>
          <a:noFill/>
          <a:ln/>
        </p:spPr>
        <p:txBody>
          <a:bodyPr wrap="none" lIns="0" tIns="0" rIns="0" bIns="0" rtlCol="0" anchor="t"/>
          <a:lstStyle/>
          <a:p>
            <a:pPr>
              <a:lnSpc>
                <a:spcPts val="1781"/>
              </a:lnSpc>
            </a:pPr>
            <a:r>
              <a:rPr lang="en-US" sz="1438" b="1" dirty="0">
                <a:solidFill>
                  <a:srgbClr val="E0D6DE"/>
                </a:solidFill>
                <a:latin typeface="Georgia" panose="02040502050405020303" pitchFamily="18" charset="0"/>
                <a:ea typeface="Petrona Bold" pitchFamily="34" charset="-122"/>
                <a:cs typeface="Petrona Bold" pitchFamily="34" charset="-120"/>
              </a:rPr>
              <a:t>Modular Design</a:t>
            </a:r>
            <a:endParaRPr lang="en-US" sz="1438" dirty="0"/>
          </a:p>
        </p:txBody>
      </p:sp>
      <p:sp>
        <p:nvSpPr>
          <p:cNvPr id="9" name="Text 6"/>
          <p:cNvSpPr/>
          <p:nvPr/>
        </p:nvSpPr>
        <p:spPr>
          <a:xfrm>
            <a:off x="632743" y="3777725"/>
            <a:ext cx="2440111" cy="443210"/>
          </a:xfrm>
          <a:prstGeom prst="rect">
            <a:avLst/>
          </a:prstGeom>
          <a:noFill/>
          <a:ln/>
        </p:spPr>
        <p:txBody>
          <a:bodyPr wrap="square" lIns="0" tIns="0" rIns="0" bIns="0" rtlCol="0" anchor="t"/>
          <a:lstStyle/>
          <a:p>
            <a:pPr>
              <a:lnSpc>
                <a:spcPts val="1719"/>
              </a:lnSpc>
            </a:pPr>
            <a:r>
              <a:rPr lang="en-US" sz="1094" dirty="0">
                <a:solidFill>
                  <a:srgbClr val="E0D6DE"/>
                </a:solidFill>
                <a:latin typeface="Inter" pitchFamily="34" charset="0"/>
                <a:ea typeface="Inter" pitchFamily="34" charset="-122"/>
                <a:cs typeface="Inter" pitchFamily="34" charset="-120"/>
              </a:rPr>
              <a:t>Scalable architecture enables future enhancements</a:t>
            </a:r>
            <a:endParaRPr lang="en-US" sz="1094" dirty="0"/>
          </a:p>
        </p:txBody>
      </p:sp>
      <p:sp>
        <p:nvSpPr>
          <p:cNvPr id="10" name="Shape 7"/>
          <p:cNvSpPr/>
          <p:nvPr/>
        </p:nvSpPr>
        <p:spPr>
          <a:xfrm>
            <a:off x="3217218" y="3331613"/>
            <a:ext cx="2719164" cy="1033611"/>
          </a:xfrm>
          <a:prstGeom prst="rect">
            <a:avLst/>
          </a:prstGeom>
          <a:solidFill>
            <a:srgbClr val="2F1D63"/>
          </a:solidFill>
          <a:ln/>
        </p:spPr>
      </p:sp>
      <p:sp>
        <p:nvSpPr>
          <p:cNvPr id="11" name="Shape 8"/>
          <p:cNvSpPr/>
          <p:nvPr/>
        </p:nvSpPr>
        <p:spPr>
          <a:xfrm>
            <a:off x="3178891" y="3335786"/>
            <a:ext cx="19050" cy="1033611"/>
          </a:xfrm>
          <a:prstGeom prst="roundRect">
            <a:avLst>
              <a:gd name="adj" fmla="val 307713"/>
            </a:avLst>
          </a:prstGeom>
          <a:solidFill>
            <a:srgbClr val="48367C"/>
          </a:solidFill>
          <a:ln/>
        </p:spPr>
      </p:sp>
      <p:sp>
        <p:nvSpPr>
          <p:cNvPr id="12" name="Text 9"/>
          <p:cNvSpPr/>
          <p:nvPr/>
        </p:nvSpPr>
        <p:spPr>
          <a:xfrm>
            <a:off x="3351907" y="3466376"/>
            <a:ext cx="1831851" cy="228972"/>
          </a:xfrm>
          <a:prstGeom prst="rect">
            <a:avLst/>
          </a:prstGeom>
          <a:noFill/>
          <a:ln/>
        </p:spPr>
        <p:txBody>
          <a:bodyPr wrap="none" lIns="0" tIns="0" rIns="0" bIns="0" rtlCol="0" anchor="t"/>
          <a:lstStyle/>
          <a:p>
            <a:pPr>
              <a:lnSpc>
                <a:spcPts val="1781"/>
              </a:lnSpc>
            </a:pPr>
            <a:r>
              <a:rPr lang="en-US" sz="1438" b="1" dirty="0">
                <a:solidFill>
                  <a:srgbClr val="E0D6DE"/>
                </a:solidFill>
                <a:latin typeface="Georgia" panose="02040502050405020303" pitchFamily="18" charset="0"/>
                <a:ea typeface="Petrona Bold" pitchFamily="34" charset="-122"/>
                <a:cs typeface="Petrona Bold" pitchFamily="34" charset="-120"/>
              </a:rPr>
              <a:t>High-Impact Features</a:t>
            </a:r>
            <a:endParaRPr lang="en-US" sz="1438" dirty="0"/>
          </a:p>
        </p:txBody>
      </p:sp>
      <p:sp>
        <p:nvSpPr>
          <p:cNvPr id="13" name="Text 10"/>
          <p:cNvSpPr/>
          <p:nvPr/>
        </p:nvSpPr>
        <p:spPr>
          <a:xfrm>
            <a:off x="3351907" y="3777725"/>
            <a:ext cx="2440111" cy="443210"/>
          </a:xfrm>
          <a:prstGeom prst="rect">
            <a:avLst/>
          </a:prstGeom>
          <a:noFill/>
          <a:ln/>
        </p:spPr>
        <p:txBody>
          <a:bodyPr wrap="square" lIns="0" tIns="0" rIns="0" bIns="0" rtlCol="0" anchor="t"/>
          <a:lstStyle/>
          <a:p>
            <a:pPr>
              <a:lnSpc>
                <a:spcPts val="1719"/>
              </a:lnSpc>
            </a:pPr>
            <a:r>
              <a:rPr lang="en-US" sz="1094" dirty="0">
                <a:solidFill>
                  <a:srgbClr val="E0D6DE"/>
                </a:solidFill>
                <a:latin typeface="Inter" pitchFamily="34" charset="0"/>
                <a:ea typeface="Inter" pitchFamily="34" charset="-122"/>
                <a:cs typeface="Inter" pitchFamily="34" charset="-120"/>
              </a:rPr>
              <a:t>Thumbnail dashboard and live stream viewer</a:t>
            </a:r>
            <a:endParaRPr lang="en-US" sz="1094" dirty="0"/>
          </a:p>
        </p:txBody>
      </p:sp>
      <p:sp>
        <p:nvSpPr>
          <p:cNvPr id="14" name="Shape 11"/>
          <p:cNvSpPr/>
          <p:nvPr/>
        </p:nvSpPr>
        <p:spPr>
          <a:xfrm>
            <a:off x="5936383" y="3331613"/>
            <a:ext cx="2719164" cy="1033611"/>
          </a:xfrm>
          <a:prstGeom prst="rect">
            <a:avLst/>
          </a:prstGeom>
          <a:solidFill>
            <a:srgbClr val="2F1D63"/>
          </a:solidFill>
          <a:ln/>
        </p:spPr>
      </p:sp>
      <p:sp>
        <p:nvSpPr>
          <p:cNvPr id="15" name="Shape 12"/>
          <p:cNvSpPr/>
          <p:nvPr/>
        </p:nvSpPr>
        <p:spPr>
          <a:xfrm>
            <a:off x="5835549" y="3345311"/>
            <a:ext cx="19050" cy="1033611"/>
          </a:xfrm>
          <a:prstGeom prst="roundRect">
            <a:avLst>
              <a:gd name="adj" fmla="val 307713"/>
            </a:avLst>
          </a:prstGeom>
          <a:solidFill>
            <a:srgbClr val="48367C"/>
          </a:solidFill>
          <a:ln/>
        </p:spPr>
      </p:sp>
      <p:sp>
        <p:nvSpPr>
          <p:cNvPr id="16" name="Text 13"/>
          <p:cNvSpPr/>
          <p:nvPr/>
        </p:nvSpPr>
        <p:spPr>
          <a:xfrm>
            <a:off x="6071071" y="3466376"/>
            <a:ext cx="1831851" cy="228972"/>
          </a:xfrm>
          <a:prstGeom prst="rect">
            <a:avLst/>
          </a:prstGeom>
          <a:noFill/>
          <a:ln/>
        </p:spPr>
        <p:txBody>
          <a:bodyPr wrap="none" lIns="0" tIns="0" rIns="0" bIns="0" rtlCol="0" anchor="t"/>
          <a:lstStyle/>
          <a:p>
            <a:pPr>
              <a:lnSpc>
                <a:spcPts val="1781"/>
              </a:lnSpc>
            </a:pPr>
            <a:r>
              <a:rPr lang="en-US" sz="1438" b="1" dirty="0">
                <a:solidFill>
                  <a:srgbClr val="E0D6DE"/>
                </a:solidFill>
                <a:latin typeface="Georgia" panose="02040502050405020303" pitchFamily="18" charset="0"/>
                <a:ea typeface="Petrona Bold" pitchFamily="34" charset="-122"/>
                <a:cs typeface="Petrona Bold" pitchFamily="34" charset="-120"/>
              </a:rPr>
              <a:t>Educational Value</a:t>
            </a:r>
            <a:endParaRPr lang="en-US" sz="1438" dirty="0"/>
          </a:p>
        </p:txBody>
      </p:sp>
      <p:sp>
        <p:nvSpPr>
          <p:cNvPr id="17" name="Text 14"/>
          <p:cNvSpPr/>
          <p:nvPr/>
        </p:nvSpPr>
        <p:spPr>
          <a:xfrm>
            <a:off x="6071071" y="3777725"/>
            <a:ext cx="2440111" cy="443210"/>
          </a:xfrm>
          <a:prstGeom prst="rect">
            <a:avLst/>
          </a:prstGeom>
          <a:noFill/>
          <a:ln/>
        </p:spPr>
        <p:txBody>
          <a:bodyPr wrap="square" lIns="0" tIns="0" rIns="0" bIns="0" rtlCol="0" anchor="t"/>
          <a:lstStyle/>
          <a:p>
            <a:pPr>
              <a:lnSpc>
                <a:spcPts val="1719"/>
              </a:lnSpc>
            </a:pPr>
            <a:r>
              <a:rPr lang="en-US" sz="1094" dirty="0">
                <a:solidFill>
                  <a:srgbClr val="E0D6DE"/>
                </a:solidFill>
                <a:latin typeface="Inter" pitchFamily="34" charset="0"/>
                <a:ea typeface="Inter" pitchFamily="34" charset="-122"/>
                <a:cs typeface="Inter" pitchFamily="34" charset="-120"/>
              </a:rPr>
              <a:t>Comprehensive solution for modern teaching environments</a:t>
            </a:r>
            <a:endParaRPr lang="en-US" sz="1094" dirty="0"/>
          </a:p>
        </p:txBody>
      </p:sp>
      <p:sp>
        <p:nvSpPr>
          <p:cNvPr id="18" name="Rectangle 17">
            <a:extLst>
              <a:ext uri="{FF2B5EF4-FFF2-40B4-BE49-F238E27FC236}">
                <a16:creationId xmlns:a16="http://schemas.microsoft.com/office/drawing/2014/main" id="{E2262A38-3370-21F5-7D2B-0118E614B047}"/>
              </a:ext>
            </a:extLst>
          </p:cNvPr>
          <p:cNvSpPr/>
          <p:nvPr/>
        </p:nvSpPr>
        <p:spPr>
          <a:xfrm>
            <a:off x="8018860" y="4827985"/>
            <a:ext cx="1125141" cy="315516"/>
          </a:xfrm>
          <a:prstGeom prst="rect">
            <a:avLst/>
          </a:prstGeom>
          <a:solidFill>
            <a:srgbClr val="0C0626"/>
          </a:solidFill>
          <a:ln>
            <a:solidFill>
              <a:srgbClr val="0D0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C6B31C-55F0-4184-9BD8-B46B24AE7268}">
  <we:reference id="wa200010001" version="1.0.0.1" store="en-US" storeType="OMEX"/>
  <we:alternateReferences>
    <we:reference id="wa200010001" version="1.0.0.1" store="en-US" storeType="OMEX"/>
  </we:alternateReferences>
  <we:properties>
    <we:property name="claude.fileId" value="&quot;00043854-16ca-4d8c-ae69-1be09f42f65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203</TotalTime>
  <Words>967</Words>
  <Application>Microsoft Office PowerPoint</Application>
  <PresentationFormat>On-screen Show (16:9)</PresentationFormat>
  <Paragraphs>149</Paragraphs>
  <Slides>11</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Showcard Gothic</vt:lpstr>
      <vt:lpstr>Source Sans 3</vt:lpstr>
      <vt:lpstr>Noto Sans TC</vt:lpstr>
      <vt:lpstr>Arial Narrow</vt:lpstr>
      <vt:lpstr>Calibri</vt:lpstr>
      <vt:lpstr>Unispace</vt:lpstr>
      <vt:lpstr>Sora Medium</vt:lpstr>
      <vt:lpstr>Georgia</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shreeraj gudade</dc:creator>
  <cp:lastModifiedBy>shreeraj gudade</cp:lastModifiedBy>
  <cp:revision>13</cp:revision>
  <dcterms:created xsi:type="dcterms:W3CDTF">2026-05-17T21:44:50Z</dcterms:created>
  <dcterms:modified xsi:type="dcterms:W3CDTF">2026-05-18T17:50:41Z</dcterms:modified>
</cp:coreProperties>
</file>