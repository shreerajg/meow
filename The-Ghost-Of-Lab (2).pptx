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6" r:id="rId7"/>
    <p:sldId id="260" r:id="rId8"/>
    <p:sldId id="261" r:id="rId9"/>
    <p:sldId id="262" r:id="rId10"/>
    <p:sldId id="263" r:id="rId11"/>
    <p:sldId id="264" r:id="rId12"/>
    <p:sldId id="265" r:id="rId13"/>
  </p:sldIdLst>
  <p:sldSz cx="14630400" cy="8229600"/>
  <p:notesSz cx="8229600" cy="146304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Showcard Gothic" panose="04020904020102020604" pitchFamily="82" charset="0"/>
      <p:regular r:id="rId24"/>
    </p:embeddedFont>
    <p:embeddedFont>
      <p:font typeface="Source Sans 3" panose="020B0604020202020204" charset="0"/>
      <p:regular r:id="rId25"/>
    </p:embeddedFont>
    <p:embeddedFont>
      <p:font typeface="Unispace" panose="02000809060000020004" pitchFamily="49" charset="0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D1C"/>
    <a:srgbClr val="0D0726"/>
    <a:srgbClr val="0C0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34" y="10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0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aX364Kn4bE" TargetMode="External"/><Relationship Id="rId2" Type="http://schemas.openxmlformats.org/officeDocument/2006/relationships/hyperlink" Target="https://education.umd.edu/classroom-monitoring-tool-lanschool-1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anagedmethods.com/blog/google-classroom-monitorin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4045" y="3533537"/>
            <a:ext cx="815655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72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The Ghost Of Lab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93790" y="45417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modular hybrid suite for LAN-based classroom management and monitoring</a:t>
            </a:r>
            <a:endParaRPr lang="en-US" sz="17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CA9BE3F-F507-1D9C-DF7C-3098978385F5}"/>
              </a:ext>
            </a:extLst>
          </p:cNvPr>
          <p:cNvSpPr/>
          <p:nvPr/>
        </p:nvSpPr>
        <p:spPr>
          <a:xfrm>
            <a:off x="1278552" y="1717249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Unispace" panose="02000809060000020004" pitchFamily="49" charset="0"/>
                <a:ea typeface="Source Sans 3" pitchFamily="34" charset="-122"/>
                <a:cs typeface="Source Sans 3" pitchFamily="34" charset="-120"/>
              </a:rPr>
              <a:t>Department of Computer Science &amp; Engineering (AIML)</a:t>
            </a:r>
            <a:endParaRPr lang="en-US" sz="1850" dirty="0">
              <a:latin typeface="Unispace" panose="02000809060000020004" pitchFamily="49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EBE2A1C-375E-7BDC-0226-EBC1152F5B13}"/>
              </a:ext>
            </a:extLst>
          </p:cNvPr>
          <p:cNvSpPr/>
          <p:nvPr/>
        </p:nvSpPr>
        <p:spPr>
          <a:xfrm>
            <a:off x="1221402" y="1182060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Showcard Gothic" panose="04020904020102020604" pitchFamily="82" charset="0"/>
                <a:ea typeface="Source Sans 3" pitchFamily="34" charset="-122"/>
                <a:cs typeface="Source Sans 3" pitchFamily="34" charset="-120"/>
              </a:rPr>
              <a:t>Kolhapur Institute of  Technology, Kolhapur</a:t>
            </a:r>
            <a:endParaRPr lang="en-US" sz="2200" dirty="0">
              <a:latin typeface="Showcard Gothic" panose="04020904020102020604" pitchFamily="8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5E080-EECD-DABF-4B6E-BC992BF42A00}"/>
              </a:ext>
            </a:extLst>
          </p:cNvPr>
          <p:cNvSpPr/>
          <p:nvPr/>
        </p:nvSpPr>
        <p:spPr>
          <a:xfrm>
            <a:off x="0" y="0"/>
            <a:ext cx="3185475" cy="104382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C50D29-00B1-9CC3-603C-F268FE794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491"/>
            <a:ext cx="3185475" cy="941546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8D0045B1-9B40-017F-0A48-DBE6965C474D}"/>
              </a:ext>
            </a:extLst>
          </p:cNvPr>
          <p:cNvSpPr/>
          <p:nvPr/>
        </p:nvSpPr>
        <p:spPr>
          <a:xfrm>
            <a:off x="0" y="5711061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Team : 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Shubham Patil  A48,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	       Shreeraj Gudade A73,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Anjali Wale A74,</a:t>
            </a:r>
          </a:p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             Shreya Thorat A77</a:t>
            </a:r>
            <a:endParaRPr lang="en-US" sz="18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6E3109-582A-745C-42D1-F9F8B8A4C900}"/>
              </a:ext>
            </a:extLst>
          </p:cNvPr>
          <p:cNvSpPr txBox="1"/>
          <p:nvPr/>
        </p:nvSpPr>
        <p:spPr>
          <a:xfrm>
            <a:off x="6486526" y="6809297"/>
            <a:ext cx="2876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UNDER GUIDANCE OF:</a:t>
            </a:r>
          </a:p>
          <a:p>
            <a:endParaRPr lang="en-US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r>
              <a:rPr lang="en-US" i="1" dirty="0">
                <a:solidFill>
                  <a:schemeClr val="bg1"/>
                </a:solidFill>
                <a:latin typeface="Arial Narrow" panose="020B0606020202030204" pitchFamily="34" charset="0"/>
              </a:rPr>
              <a:t>Mrs. Sapna Buwa. 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39C70B5-D4BB-13D9-7466-4F774B010249}"/>
              </a:ext>
            </a:extLst>
          </p:cNvPr>
          <p:cNvSpPr/>
          <p:nvPr/>
        </p:nvSpPr>
        <p:spPr>
          <a:xfrm>
            <a:off x="-151454" y="7580353"/>
            <a:ext cx="3488381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Date: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15</a:t>
            </a:r>
            <a:r>
              <a:rPr lang="en-US" sz="1850" baseline="30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</a:t>
            </a: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May 2026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779" y="657344"/>
            <a:ext cx="7645241" cy="140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Introduction &amp; Problem Statement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35779" y="2365653"/>
            <a:ext cx="7645241" cy="1581983"/>
          </a:xfrm>
          <a:prstGeom prst="roundRect">
            <a:avLst>
              <a:gd name="adj" fmla="val 5685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57474" y="2587347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The Vision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57474" y="3059906"/>
            <a:ext cx="7201853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Dual-state application providing instant instructor control and broadcasting over LAN without external internet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235779" y="4149685"/>
            <a:ext cx="7645241" cy="2056448"/>
          </a:xfrm>
          <a:prstGeom prst="roundRect">
            <a:avLst>
              <a:gd name="adj" fmla="val 437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57474" y="4371380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57474" y="4843939"/>
            <a:ext cx="7201853" cy="114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latency in screen broadcasting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setup with Maven dependencies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silent OS-level command execution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299" y="6403062"/>
            <a:ext cx="60960" cy="11995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10814" y="6433542"/>
            <a:ext cx="2810470" cy="35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10814" y="6906101"/>
            <a:ext cx="7370207" cy="666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low-latency screen broadcasting, preventing software bypass, managing persistent student data</a:t>
            </a:r>
            <a:endParaRPr lang="en-US" sz="16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918D34-A675-12C8-65BB-CE88E2D478CC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2603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Core Objectives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30172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688" y="2020491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55761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292762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Dual-State Launcher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1051084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Admin/Student role assignment with modular architecture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330172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020491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2927628"/>
            <a:ext cx="328219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Real-Time Broadcasting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5474256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frame-rate screen transmission over standard LAN infrastructure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330172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8032" y="2020491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2927628"/>
            <a:ext cx="353806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Global Command Console</a:t>
            </a:r>
            <a:endParaRPr lang="en-US" sz="2300" dirty="0"/>
          </a:p>
        </p:txBody>
      </p:sp>
      <p:sp>
        <p:nvSpPr>
          <p:cNvPr id="20" name="Text 12"/>
          <p:cNvSpPr/>
          <p:nvPr/>
        </p:nvSpPr>
        <p:spPr>
          <a:xfrm>
            <a:off x="9897427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remote Python scripts across all student machines simultaneously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93790" y="5348764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18284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008602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51787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5915739"/>
            <a:ext cx="311348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Persistent User System</a:t>
            </a:r>
            <a:endParaRPr lang="en-US" sz="2300" dirty="0"/>
          </a:p>
        </p:txBody>
      </p:sp>
      <p:sp>
        <p:nvSpPr>
          <p:cNvPr id="26" name="Text 16"/>
          <p:cNvSpPr/>
          <p:nvPr/>
        </p:nvSpPr>
        <p:spPr>
          <a:xfrm>
            <a:off x="1051084" y="64238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registration and attendance tracking with local data persistence</a:t>
            </a:r>
            <a:endParaRPr lang="en-US" sz="1750" dirty="0"/>
          </a:p>
        </p:txBody>
      </p:sp>
      <p:sp>
        <p:nvSpPr>
          <p:cNvPr id="27" name="Shape 17"/>
          <p:cNvSpPr/>
          <p:nvPr/>
        </p:nvSpPr>
        <p:spPr>
          <a:xfrm>
            <a:off x="7428548" y="5348764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318284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5008602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51787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59157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High-Fidelity GUI</a:t>
            </a:r>
            <a:endParaRPr lang="en-US" sz="2300" dirty="0"/>
          </a:p>
        </p:txBody>
      </p:sp>
      <p:sp>
        <p:nvSpPr>
          <p:cNvPr id="32" name="Text 20"/>
          <p:cNvSpPr/>
          <p:nvPr/>
        </p:nvSpPr>
        <p:spPr>
          <a:xfrm>
            <a:off x="7685842" y="64238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JavaFX-powered interface with customizable themes and responsive design</a:t>
            </a:r>
            <a:endParaRPr lang="en-US" sz="17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69A16B-EA5A-3859-E829-E4CF1FB53DD4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3266F1-F9C2-5E14-6CCB-D6ADCEABB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173166"/>
              </p:ext>
            </p:extLst>
          </p:nvPr>
        </p:nvGraphicFramePr>
        <p:xfrm>
          <a:off x="169524" y="1391722"/>
          <a:ext cx="14291352" cy="618033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572838">
                  <a:extLst>
                    <a:ext uri="{9D8B030D-6E8A-4147-A177-3AD203B41FA5}">
                      <a16:colId xmlns:a16="http://schemas.microsoft.com/office/drawing/2014/main" val="338246748"/>
                    </a:ext>
                  </a:extLst>
                </a:gridCol>
                <a:gridCol w="3572838">
                  <a:extLst>
                    <a:ext uri="{9D8B030D-6E8A-4147-A177-3AD203B41FA5}">
                      <a16:colId xmlns:a16="http://schemas.microsoft.com/office/drawing/2014/main" val="1070297333"/>
                    </a:ext>
                  </a:extLst>
                </a:gridCol>
                <a:gridCol w="3572838">
                  <a:extLst>
                    <a:ext uri="{9D8B030D-6E8A-4147-A177-3AD203B41FA5}">
                      <a16:colId xmlns:a16="http://schemas.microsoft.com/office/drawing/2014/main" val="4071589304"/>
                    </a:ext>
                  </a:extLst>
                </a:gridCol>
                <a:gridCol w="3572838">
                  <a:extLst>
                    <a:ext uri="{9D8B030D-6E8A-4147-A177-3AD203B41FA5}">
                      <a16:colId xmlns:a16="http://schemas.microsoft.com/office/drawing/2014/main" val="1592834624"/>
                    </a:ext>
                  </a:extLst>
                </a:gridCol>
              </a:tblGrid>
              <a:tr h="4514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Reference / System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1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Approach &amp; Key Features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Limitations / Gaps (</a:t>
                      </a:r>
                      <a:r>
                        <a:rPr lang="en-US" sz="1600" b="1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w.r.t.</a:t>
                      </a:r>
                      <a:r>
                        <a:rPr lang="en-US" sz="1600" b="1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 GHOST OF LAB)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Relevance to GHOST OF LAB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264271"/>
                  </a:ext>
                </a:extLst>
              </a:tr>
              <a:tr h="1909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NetSupport</a:t>
                      </a: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 School (commercial classroom management)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Provides rich classroom management: real‑time viewing and control of student screens, website and application control, tests and assessment tools, and teacher screen broadcast across platforms.systech+1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Heavy, feature‑rich suite; not focused on low‑footprint, invisible agents on each PC, and may be costly or overkill for a single‑lab deployment.systech+1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Shows that real‑time screen monitoring and control are established needs; GHOST OF LAB adopts a narrower, lightweight, lab‑specific subset (screen streaming, blocking, attendance) with custom control logic.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6030022"/>
                  </a:ext>
                </a:extLst>
              </a:tr>
              <a:tr h="1909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LANSchool</a:t>
                      </a:r>
                      <a:r>
                        <a:rPr lang="en-IN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 / classroom monitoring tools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LANSchool</a:t>
                      </a: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 lets teachers see all student computers, blank or lock screens, limit browsing, and show teacher/student screens; typical classroom monitoring 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workflow.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education.umd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youtube</a:t>
                      </a:r>
                      <a:endParaRPr lang="en-US" sz="1600" dirty="0">
                        <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Focus on visible monitoring UI; less emphasis on stealthy, hard‑to‑close agents or custom integration with Python‑based system controls and AI 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assistants.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education.umd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youtube</a:t>
                      </a:r>
                      <a:endParaRPr lang="en-US" sz="1600" dirty="0">
                        <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Motivates core requirements: see screens, remove distractions, lock inputs; GHOST OF LAB re‑implements these ideas using Java/JavaFX, hosts‑file blocking, and Python executors tuned for a single institute.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164968"/>
                  </a:ext>
                </a:extLst>
              </a:tr>
              <a:tr h="1909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Classroom monitoring solutions overview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Surveys of classroom monitoring solutions highlight real‑time screen viewing, website blocking, locking screens, and device management as common capabilities to keep students on task.education.umd+1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Many tools are generic, multi‑platform SaaS products with broad scope; they rarely focus on tight integration with local SQLite, UDP discovery, and low‑level OS control on each 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workstation.</a:t>
                      </a:r>
                      <a:r>
                        <a:rPr lang="en-US" sz="1600" dirty="0" err="1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managedmethods</a:t>
                      </a:r>
                      <a:endParaRPr lang="en-US" sz="1600" dirty="0">
                        <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ln>
                        <a:effectLst/>
                      </a:endParaRP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n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ln>
                          <a:effectLst/>
                        </a:rPr>
                        <a:t>Justifies the design choices of GHOST OF LAB: a focused, LAN‑only tool that integrates networking (UDP/TCP), local DB, and OS‑level control tailored to a specific lab context.</a:t>
                      </a:r>
                    </a:p>
                  </a:txBody>
                  <a:tcPr marL="27423" marR="27423" marT="27423" marB="2742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27888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864748C-6B3A-0F8E-2512-826984B14FCF}"/>
              </a:ext>
            </a:extLst>
          </p:cNvPr>
          <p:cNvSpPr txBox="1"/>
          <p:nvPr/>
        </p:nvSpPr>
        <p:spPr>
          <a:xfrm>
            <a:off x="4756935" y="164469"/>
            <a:ext cx="5260368" cy="765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850"/>
              </a:lnSpc>
            </a:pPr>
            <a:r>
              <a:rPr lang="en-US" sz="32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3F972E-892B-EBD3-9598-9987BE0473B2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37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7741" y="461486"/>
            <a:ext cx="4099084" cy="51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Technologies Stack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60" y="1377137"/>
            <a:ext cx="6870263" cy="37473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08979" y="5891332"/>
            <a:ext cx="2049542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927741" y="6254829"/>
            <a:ext cx="6870263" cy="70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17+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Core logic and socket programming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System-level automation</a:t>
            </a:r>
            <a:endParaRPr lang="en-US" sz="160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60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JavaFX</a:t>
            </a: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Rich GUI framework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963" y="461486"/>
            <a:ext cx="3523417" cy="5033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0174" y="6072094"/>
            <a:ext cx="2049542" cy="256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Infrastructure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449686" y="6554944"/>
            <a:ext cx="3523417" cy="956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TCP/IP Sockets</a:t>
            </a: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Data transmission</a:t>
            </a:r>
            <a:endParaRPr lang="en-US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UDP</a:t>
            </a: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Network discovery</a:t>
            </a:r>
            <a:endParaRPr lang="en-US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</a:t>
            </a: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Lightweight database</a:t>
            </a:r>
            <a:endParaRPr lang="en-US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r>
              <a:rPr lang="en-US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Custom theming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6B4CC-54D8-42EC-433C-AB9854FFC344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021F6-F0A0-D084-759A-6AC43EAB1572}"/>
              </a:ext>
            </a:extLst>
          </p:cNvPr>
          <p:cNvSpPr txBox="1"/>
          <p:nvPr/>
        </p:nvSpPr>
        <p:spPr>
          <a:xfrm>
            <a:off x="4217542" y="601307"/>
            <a:ext cx="619531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5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System Architecture </a:t>
            </a:r>
            <a:endParaRPr lang="en-IN" sz="4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0F701A-202A-5BD2-945C-42F2DD052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9479"/>
            <a:ext cx="14630400" cy="67501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BE7FB6-6C0E-257A-AF06-A9EA6364FF8B}"/>
              </a:ext>
            </a:extLst>
          </p:cNvPr>
          <p:cNvSpPr txBox="1"/>
          <p:nvPr/>
        </p:nvSpPr>
        <p:spPr>
          <a:xfrm>
            <a:off x="4387066" y="3930134"/>
            <a:ext cx="729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(UDP)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071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653"/>
            <a:ext cx="97083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 Key Features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0395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Modular Engine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Decoupled networking and UI components enabling easy scaling and maintenance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0395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Admin Dashboard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339816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thumbnail grid displaying all connected student screens in real-time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0395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900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Global Console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339816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commands to all machines or target specific PCs with precision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4049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90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LAN Social Hub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93790" y="629912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peer-to-peer and group chat functionality for classroom collaboration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494049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909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File Distribution</a:t>
            </a:r>
            <a:endParaRPr lang="en-US" sz="2300" dirty="0"/>
          </a:p>
        </p:txBody>
      </p:sp>
      <p:sp>
        <p:nvSpPr>
          <p:cNvPr id="17" name="Text 10"/>
          <p:cNvSpPr/>
          <p:nvPr/>
        </p:nvSpPr>
        <p:spPr>
          <a:xfrm>
            <a:off x="5235893" y="629912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file pushing from Admin PC directly to student desktops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4CAC09-9A68-A44E-60E6-6D925F259ED2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01F41AC1-2777-D577-7FBB-4D53819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9677995" y="4940498"/>
            <a:ext cx="566976" cy="435888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216EDB4D-173A-AC05-3BEA-39F8AA9B5672}"/>
              </a:ext>
            </a:extLst>
          </p:cNvPr>
          <p:cNvSpPr/>
          <p:nvPr/>
        </p:nvSpPr>
        <p:spPr>
          <a:xfrm>
            <a:off x="9677995" y="56598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AI INTEGRATION</a:t>
            </a:r>
            <a:endParaRPr lang="en-US" sz="23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9092C81A-2F4F-2D8E-08E9-315D5A77F08D}"/>
              </a:ext>
            </a:extLst>
          </p:cNvPr>
          <p:cNvSpPr/>
          <p:nvPr/>
        </p:nvSpPr>
        <p:spPr>
          <a:xfrm>
            <a:off x="9677995" y="616803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integrated and students can use AI but with system prompt that admin can modify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33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25535" y="2756892"/>
            <a:ext cx="4899303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Implementation Details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535" y="3509724"/>
            <a:ext cx="853559" cy="10241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07563" y="3680341"/>
            <a:ext cx="2240518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Java-Python Bridge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2407563" y="4037409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handles UI and network stability whilst Python action.py scripts execute "ghost" tasks like file creation and system monitoring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535" y="4533900"/>
            <a:ext cx="853559" cy="10241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407563" y="4704517"/>
            <a:ext cx="2240518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Broadcasting Logic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2407563" y="5061585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java.awt.Robot captures screens, compresses into byte arrays for rapid LAN transmission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535" y="5558076"/>
            <a:ext cx="853559" cy="10241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407563" y="5728692"/>
            <a:ext cx="237732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UI/UX Implementation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2407563" y="6085761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Smooth transitions and custom toggle buttons in JavaFX with responsive design principles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5535" y="6582251"/>
            <a:ext cx="853559" cy="10241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407563" y="6752868"/>
            <a:ext cx="2240518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UserData Persistence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2407563" y="7109936"/>
            <a:ext cx="1079718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module stores student details locally, enabling persistent login across different lab sessions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EC0823-A592-4322-C530-53BB23AFF8B7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52055" y="1751720"/>
            <a:ext cx="691336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Limitations &amp; Challenges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476506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476506"/>
            <a:ext cx="121920" cy="24743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7338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Network Dependency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142524" y="424195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exclusively on Local Area Network; performance degrades on highly congested Wi-Fi environments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476506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3476506"/>
            <a:ext cx="121920" cy="24743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7338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OS Constraints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5565696" y="424195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"ghost" commands may require administrative privileges on student machines for full functionality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476506"/>
            <a:ext cx="4196358" cy="2474357"/>
          </a:xfrm>
          <a:prstGeom prst="roundRect">
            <a:avLst>
              <a:gd name="adj" fmla="val 5913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476506"/>
            <a:ext cx="121920" cy="247435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733800"/>
            <a:ext cx="333125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Hardware Requirements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988868" y="424195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broadcasting and thumbnail generation demand moderate CPU usage on Admin PC and Student PC.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6164A-5E09-ECF8-3161-97138B90E0BF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325" y="708422"/>
            <a:ext cx="6125766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Evaluation Methodology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452235" y="1681996"/>
            <a:ext cx="22860" cy="5839063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5" name="Shape 2"/>
          <p:cNvSpPr/>
          <p:nvPr/>
        </p:nvSpPr>
        <p:spPr>
          <a:xfrm>
            <a:off x="6664285" y="1905476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6" name="Shape 3"/>
          <p:cNvSpPr/>
          <p:nvPr/>
        </p:nvSpPr>
        <p:spPr>
          <a:xfrm>
            <a:off x="6217325" y="1681996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7810" y="1711345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496413" y="1753672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Performance Testing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496413" y="2211586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screen broadcast latency across 20+ simultaneous student nodes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64285" y="3461385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325" y="3237905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7810" y="3267254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496413" y="3309580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Reliability Checks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496413" y="3767495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command console success rate under high network load conditions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64285" y="5017294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325" y="4793813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7810" y="4823162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496413" y="4865489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UX Survey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496413" y="5323403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feedback on dynamic themes system and Social Hub interface usability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64285" y="6573203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48367C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325" y="6349722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7810" y="6379071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7496413" y="6421398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Security Audit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496413" y="6879312"/>
            <a:ext cx="6403062" cy="641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persistent login system correctly prevents unauthorized Admin access</a:t>
            </a:r>
            <a:endParaRPr 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A3A735-C303-F075-35E8-D470A99EAB34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8101" y="128956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Feature Comparison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080266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878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23159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23159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Systems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499997" y="323159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Of Lab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7382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88191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881914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installers required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499997" y="3881914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Portable, modular Java files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3885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5322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453223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Static, hard-to-change UIs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499997" y="453223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JavaFX themes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0388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18255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518255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remote desktop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499997" y="5182553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Python-powered "Ghost" commands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6891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8328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Usage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5832872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Often needs cloud/internet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499997" y="5832872"/>
            <a:ext cx="410217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offline LAN operation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29FD60-FE82-B4AF-3A10-59DEDBDC25B1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91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526" y="3419237"/>
            <a:ext cx="5861923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FF8AAF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1116449" y="4728805"/>
            <a:ext cx="12732425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Ghost Of Lab" successfully integrates Java's stability with Python's flexibility, delivering a robust classroom management solution.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81526" y="4481513"/>
            <a:ext cx="30480" cy="1203722"/>
          </a:xfrm>
          <a:prstGeom prst="rect">
            <a:avLst/>
          </a:prstGeom>
          <a:solidFill>
            <a:srgbClr val="876CD4"/>
          </a:solidFill>
          <a:ln/>
        </p:spPr>
      </p:sp>
      <p:sp>
        <p:nvSpPr>
          <p:cNvPr id="6" name="Shape 3"/>
          <p:cNvSpPr/>
          <p:nvPr/>
        </p:nvSpPr>
        <p:spPr>
          <a:xfrm>
            <a:off x="781526" y="5932527"/>
            <a:ext cx="13067348" cy="1669018"/>
          </a:xfrm>
          <a:prstGeom prst="roundRect">
            <a:avLst>
              <a:gd name="adj" fmla="val 562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9146" y="5940147"/>
            <a:ext cx="4350663" cy="1653778"/>
          </a:xfrm>
          <a:prstGeom prst="roundRect">
            <a:avLst>
              <a:gd name="adj" fmla="val 5671"/>
            </a:avLst>
          </a:prstGeom>
          <a:solidFill>
            <a:srgbClr val="2F1D63"/>
          </a:solidFill>
          <a:ln/>
        </p:spPr>
      </p:sp>
      <p:sp>
        <p:nvSpPr>
          <p:cNvPr id="8" name="Text 5"/>
          <p:cNvSpPr/>
          <p:nvPr/>
        </p:nvSpPr>
        <p:spPr>
          <a:xfrm>
            <a:off x="1012388" y="616338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Modular Design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12388" y="6661547"/>
            <a:ext cx="390417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architecture enables future enhancements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139809" y="5940147"/>
            <a:ext cx="4350663" cy="165377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11" name="Shape 8"/>
          <p:cNvSpPr/>
          <p:nvPr/>
        </p:nvSpPr>
        <p:spPr>
          <a:xfrm>
            <a:off x="5139809" y="5940147"/>
            <a:ext cx="30480" cy="1653778"/>
          </a:xfrm>
          <a:prstGeom prst="roundRect">
            <a:avLst>
              <a:gd name="adj" fmla="val 307713"/>
            </a:avLst>
          </a:prstGeom>
          <a:solidFill>
            <a:srgbClr val="48367C"/>
          </a:solidFill>
          <a:ln/>
        </p:spPr>
      </p:sp>
      <p:sp>
        <p:nvSpPr>
          <p:cNvPr id="12" name="Text 9"/>
          <p:cNvSpPr/>
          <p:nvPr/>
        </p:nvSpPr>
        <p:spPr>
          <a:xfrm>
            <a:off x="5363051" y="616338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High-Impact Features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5363051" y="6661547"/>
            <a:ext cx="390417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Thumbnail dashboard and live stream viewer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490472" y="5940147"/>
            <a:ext cx="4350663" cy="1653778"/>
          </a:xfrm>
          <a:prstGeom prst="rect">
            <a:avLst/>
          </a:prstGeom>
          <a:solidFill>
            <a:srgbClr val="2F1D63"/>
          </a:solidFill>
          <a:ln/>
        </p:spPr>
      </p:sp>
      <p:sp>
        <p:nvSpPr>
          <p:cNvPr id="15" name="Shape 12"/>
          <p:cNvSpPr/>
          <p:nvPr/>
        </p:nvSpPr>
        <p:spPr>
          <a:xfrm>
            <a:off x="9490472" y="5940147"/>
            <a:ext cx="30480" cy="1653778"/>
          </a:xfrm>
          <a:prstGeom prst="roundRect">
            <a:avLst>
              <a:gd name="adj" fmla="val 307713"/>
            </a:avLst>
          </a:prstGeom>
          <a:solidFill>
            <a:srgbClr val="48367C"/>
          </a:solidFill>
          <a:ln/>
        </p:spPr>
      </p:sp>
      <p:sp>
        <p:nvSpPr>
          <p:cNvPr id="16" name="Text 13"/>
          <p:cNvSpPr/>
          <p:nvPr/>
        </p:nvSpPr>
        <p:spPr>
          <a:xfrm>
            <a:off x="9713714" y="6163389"/>
            <a:ext cx="2930962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Georgia" panose="02040502050405020303" pitchFamily="18" charset="0"/>
                <a:ea typeface="Petrona Bold" pitchFamily="34" charset="-122"/>
                <a:cs typeface="Petrona Bold" pitchFamily="34" charset="-120"/>
              </a:rPr>
              <a:t>Educational Value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713714" y="6661547"/>
            <a:ext cx="390417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solution for modern teaching environments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262A38-3370-21F5-7D2B-0118E614B047}"/>
              </a:ext>
            </a:extLst>
          </p:cNvPr>
          <p:cNvSpPr/>
          <p:nvPr/>
        </p:nvSpPr>
        <p:spPr>
          <a:xfrm>
            <a:off x="12830175" y="7724775"/>
            <a:ext cx="1800225" cy="504825"/>
          </a:xfrm>
          <a:prstGeom prst="rect">
            <a:avLst/>
          </a:prstGeom>
          <a:solidFill>
            <a:srgbClr val="0C0626"/>
          </a:solidFill>
          <a:ln>
            <a:solidFill>
              <a:srgbClr val="0D07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965</Words>
  <Application>Microsoft Office PowerPoint</Application>
  <PresentationFormat>Custom</PresentationFormat>
  <Paragraphs>142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Showcard Gothic</vt:lpstr>
      <vt:lpstr>Unispace</vt:lpstr>
      <vt:lpstr>Inter</vt:lpstr>
      <vt:lpstr>Arial Narrow</vt:lpstr>
      <vt:lpstr>Source Sans 3</vt:lpstr>
      <vt:lpstr>Georgia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shreeraj gudade</cp:lastModifiedBy>
  <cp:revision>20</cp:revision>
  <dcterms:created xsi:type="dcterms:W3CDTF">2026-02-13T19:33:15Z</dcterms:created>
  <dcterms:modified xsi:type="dcterms:W3CDTF">2026-05-15T04:13:09Z</dcterms:modified>
</cp:coreProperties>
</file>